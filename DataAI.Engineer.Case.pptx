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sldIdLst>
    <p:sldId id="2134959733" r:id="rId5"/>
    <p:sldId id="294" r:id="rId6"/>
    <p:sldId id="468" r:id="rId7"/>
    <p:sldId id="2134959734" r:id="rId8"/>
  </p:sldIdLst>
  <p:sldSz cx="12192000" cy="6858000"/>
  <p:notesSz cx="6794500" cy="9906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ample slides" id="{8AEF017F-A45B-44C4-ABCF-2A37C83FF6AB}">
          <p14:sldIdLst>
            <p14:sldId id="2134959733"/>
            <p14:sldId id="294"/>
            <p14:sldId id="468"/>
            <p14:sldId id="2134959734"/>
          </p14:sldIdLst>
        </p14:section>
      </p14:sectionLst>
    </p:ext>
    <p:ext uri="{EFAFB233-063F-42B5-8137-9DF3F51BA10A}">
      <p15:sldGuideLst xmlns:p15="http://schemas.microsoft.com/office/powerpoint/2012/main">
        <p15:guide id="2" pos="3840" userDrawn="1">
          <p15:clr>
            <a:srgbClr val="A4A3A4"/>
          </p15:clr>
        </p15:guide>
        <p15:guide id="3" orient="horz" pos="2137"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095C44-F06A-F420-0957-B71F7C61DC5B}" name="Anne-Maartje Letschert  Effectory" initials="AE" userId="S::anne-maartje.letschert@effectory.com::aaa83c8c-f332-493d-b330-4f20915b3acc" providerId="AD"/>
  <p188:author id="{11DA1983-892A-8307-CD4F-8991E59381FA}" name="Lena Götting  Effectory" initials="LGE" userId="S::Lena.Gotting@effectory.com::0574d0fd-d141-4ca0-b40b-c54115ed16cd" providerId="AD"/>
  <p188:author id="{43B3A6A1-D6E9-2101-2548-E63BB824F89E}" name="Merel Wijnands  Effectory" initials="MWE" userId="S::Merel.Wijnands@effectory.com::c81e76e9-d290-4b38-b124-5a92e0771e23" providerId="AD"/>
  <p188:author id="{866CDDC7-951B-CF45-BE15-9EFA998A4ED6}" name="Barry Koeman  Effectory" initials="BE" userId="S::barry.koeman@effectory.com::08cc7e8b-86ee-4ae8-8d3d-3f74642b7efd" providerId="AD"/>
  <p188:author id="{5E338FF9-681A-7C16-E241-4707D7958C03}" name="Sabine Rosema  Effectory" initials="SRE" userId="S::Sabine.Rosema@effectory.com::ee6cb3e3-93ab-4545-a4b0-cb7f526d5d9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ns Helms  Effectory" initials="HHE" lastIdx="5" clrIdx="0">
    <p:extLst>
      <p:ext uri="{19B8F6BF-5375-455C-9EA6-DF929625EA0E}">
        <p15:presenceInfo xmlns:p15="http://schemas.microsoft.com/office/powerpoint/2012/main" userId="S-1-5-21-1292428093-1957994488-1060284298-3827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DFA"/>
    <a:srgbClr val="192743"/>
    <a:srgbClr val="30B3AF"/>
    <a:srgbClr val="FFCF2E"/>
    <a:srgbClr val="EDEDED"/>
    <a:srgbClr val="065D66"/>
    <a:srgbClr val="B3DCD8"/>
    <a:srgbClr val="232221"/>
    <a:srgbClr val="252626"/>
    <a:srgbClr val="FCD0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954" y="102"/>
      </p:cViewPr>
      <p:guideLst>
        <p:guide pos="3840"/>
        <p:guide orient="horz" pos="213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7020"/>
          </a:xfrm>
          <a:prstGeom prst="rect">
            <a:avLst/>
          </a:prstGeom>
        </p:spPr>
        <p:txBody>
          <a:bodyPr vert="horz" lIns="91440" tIns="45720" rIns="91440" bIns="45720" rtlCol="0"/>
          <a:lstStyle>
            <a:lvl1pPr algn="l">
              <a:defRPr sz="1200">
                <a:latin typeface="Century Gothic" panose="020B0502020202020204" pitchFamily="34" charset="0"/>
              </a:defRPr>
            </a:lvl1pPr>
          </a:lstStyle>
          <a:p>
            <a:endParaRPr lang="nl-NL"/>
          </a:p>
        </p:txBody>
      </p:sp>
      <p:sp>
        <p:nvSpPr>
          <p:cNvPr id="3" name="Date Placeholder 2"/>
          <p:cNvSpPr>
            <a:spLocks noGrp="1"/>
          </p:cNvSpPr>
          <p:nvPr>
            <p:ph type="dt" idx="1"/>
          </p:nvPr>
        </p:nvSpPr>
        <p:spPr>
          <a:xfrm>
            <a:off x="3848645" y="0"/>
            <a:ext cx="2944283" cy="497020"/>
          </a:xfrm>
          <a:prstGeom prst="rect">
            <a:avLst/>
          </a:prstGeom>
        </p:spPr>
        <p:txBody>
          <a:bodyPr vert="horz" lIns="91440" tIns="45720" rIns="91440" bIns="45720" rtlCol="0"/>
          <a:lstStyle>
            <a:lvl1pPr algn="r">
              <a:defRPr sz="1200">
                <a:latin typeface="Century Gothic" panose="020B0502020202020204" pitchFamily="34" charset="0"/>
              </a:defRPr>
            </a:lvl1pPr>
          </a:lstStyle>
          <a:p>
            <a:fld id="{1199CC36-1F22-4B1F-8226-858F83A27352}" type="datetimeFigureOut">
              <a:rPr lang="nl-NL" smtClean="0"/>
              <a:pPr/>
              <a:t>24-11-2025</a:t>
            </a:fld>
            <a:endParaRPr lang="nl-NL"/>
          </a:p>
        </p:txBody>
      </p:sp>
      <p:sp>
        <p:nvSpPr>
          <p:cNvPr id="4" name="Slide Image Placeholder 3"/>
          <p:cNvSpPr>
            <a:spLocks noGrp="1" noRot="1" noChangeAspect="1"/>
          </p:cNvSpPr>
          <p:nvPr>
            <p:ph type="sldImg" idx="2"/>
          </p:nvPr>
        </p:nvSpPr>
        <p:spPr>
          <a:xfrm>
            <a:off x="425450" y="1238250"/>
            <a:ext cx="5943600" cy="3343275"/>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79450" y="4767262"/>
            <a:ext cx="5435600" cy="390048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9408981"/>
            <a:ext cx="2944283" cy="497019"/>
          </a:xfrm>
          <a:prstGeom prst="rect">
            <a:avLst/>
          </a:prstGeom>
        </p:spPr>
        <p:txBody>
          <a:bodyPr vert="horz" lIns="91440" tIns="45720" rIns="91440" bIns="45720" rtlCol="0" anchor="b"/>
          <a:lstStyle>
            <a:lvl1pPr algn="l">
              <a:defRPr sz="1200">
                <a:latin typeface="Century Gothic" panose="020B0502020202020204" pitchFamily="34" charset="0"/>
              </a:defRPr>
            </a:lvl1pPr>
          </a:lstStyle>
          <a:p>
            <a:endParaRPr lang="nl-NL"/>
          </a:p>
        </p:txBody>
      </p:sp>
      <p:sp>
        <p:nvSpPr>
          <p:cNvPr id="7" name="Slide Number Placeholder 6"/>
          <p:cNvSpPr>
            <a:spLocks noGrp="1"/>
          </p:cNvSpPr>
          <p:nvPr>
            <p:ph type="sldNum" sz="quarter" idx="5"/>
          </p:nvPr>
        </p:nvSpPr>
        <p:spPr>
          <a:xfrm>
            <a:off x="3848645" y="9408981"/>
            <a:ext cx="2944283" cy="497019"/>
          </a:xfrm>
          <a:prstGeom prst="rect">
            <a:avLst/>
          </a:prstGeom>
        </p:spPr>
        <p:txBody>
          <a:bodyPr vert="horz" lIns="91440" tIns="45720" rIns="91440" bIns="45720" rtlCol="0" anchor="b"/>
          <a:lstStyle>
            <a:lvl1pPr algn="r">
              <a:defRPr sz="1200">
                <a:latin typeface="Century Gothic" panose="020B0502020202020204" pitchFamily="34" charset="0"/>
              </a:defRPr>
            </a:lvl1pPr>
          </a:lstStyle>
          <a:p>
            <a:fld id="{6A629805-FA67-4C6B-8F5F-800D3AAA30C9}" type="slidenum">
              <a:rPr lang="nl-NL" smtClean="0"/>
              <a:pPr/>
              <a:t>‹#›</a:t>
            </a:fld>
            <a:endParaRPr lang="nl-NL"/>
          </a:p>
        </p:txBody>
      </p:sp>
    </p:spTree>
    <p:extLst>
      <p:ext uri="{BB962C8B-B14F-4D97-AF65-F5344CB8AC3E}">
        <p14:creationId xmlns:p14="http://schemas.microsoft.com/office/powerpoint/2010/main" val="2571873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entury Gothic" panose="020B0502020202020204" pitchFamily="34" charset="0"/>
        <a:ea typeface="+mn-ea"/>
        <a:cs typeface="+mn-cs"/>
      </a:defRPr>
    </a:lvl1pPr>
    <a:lvl2pPr marL="457200" algn="l" defTabSz="914400" rtl="0" eaLnBrk="1" latinLnBrk="0" hangingPunct="1">
      <a:defRPr sz="1200" kern="1200">
        <a:solidFill>
          <a:schemeClr val="tx1"/>
        </a:solidFill>
        <a:latin typeface="Century Gothic" panose="020B0502020202020204" pitchFamily="34" charset="0"/>
        <a:ea typeface="+mn-ea"/>
        <a:cs typeface="+mn-cs"/>
      </a:defRPr>
    </a:lvl2pPr>
    <a:lvl3pPr marL="914400" algn="l" defTabSz="914400" rtl="0" eaLnBrk="1" latinLnBrk="0" hangingPunct="1">
      <a:defRPr sz="1200" kern="1200">
        <a:solidFill>
          <a:schemeClr val="tx1"/>
        </a:solidFill>
        <a:latin typeface="Century Gothic" panose="020B0502020202020204" pitchFamily="34" charset="0"/>
        <a:ea typeface="+mn-ea"/>
        <a:cs typeface="+mn-cs"/>
      </a:defRPr>
    </a:lvl3pPr>
    <a:lvl4pPr marL="1371600" algn="l" defTabSz="914400" rtl="0" eaLnBrk="1" latinLnBrk="0" hangingPunct="1">
      <a:defRPr sz="1200" kern="1200">
        <a:solidFill>
          <a:schemeClr val="tx1"/>
        </a:solidFill>
        <a:latin typeface="Century Gothic" panose="020B0502020202020204" pitchFamily="34" charset="0"/>
        <a:ea typeface="+mn-ea"/>
        <a:cs typeface="+mn-cs"/>
      </a:defRPr>
    </a:lvl4pPr>
    <a:lvl5pPr marL="1828800" algn="l" defTabSz="914400" rtl="0" eaLnBrk="1" latinLnBrk="0" hangingPunct="1">
      <a:defRPr sz="1200" kern="1200">
        <a:solidFill>
          <a:schemeClr val="tx1"/>
        </a:solidFill>
        <a:latin typeface="Century Gothic" panose="020B0502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AU" noProof="0" dirty="0"/>
              <a:t>That’s it for today! Thank you joining. </a:t>
            </a:r>
          </a:p>
          <a:p>
            <a:endParaRPr lang="nl-NL"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629805-FA67-4C6B-8F5F-800D3AAA30C9}" type="slidenum">
              <a:rPr kumimoji="0" lang="nl-NL"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nl-NL" sz="12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14513296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c_Logo_Left">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6F7B509-28AA-4C64-BB65-DE0790F4C67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88259" y="440663"/>
            <a:ext cx="207066" cy="288000"/>
          </a:xfrm>
          <a:prstGeom prst="rect">
            <a:avLst/>
          </a:prstGeom>
        </p:spPr>
      </p:pic>
    </p:spTree>
    <p:extLst>
      <p:ext uri="{BB962C8B-B14F-4D97-AF65-F5344CB8AC3E}">
        <p14:creationId xmlns:p14="http://schemas.microsoft.com/office/powerpoint/2010/main" val="1738744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urquoise background_logo_right">
    <p:bg>
      <p:bgPr>
        <a:solidFill>
          <a:srgbClr val="30B3A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7B511B-4514-4680-80D8-C2E72C3497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96675" y="440663"/>
            <a:ext cx="206576" cy="288000"/>
          </a:xfrm>
          <a:prstGeom prst="rect">
            <a:avLst/>
          </a:prstGeom>
        </p:spPr>
      </p:pic>
    </p:spTree>
    <p:extLst>
      <p:ext uri="{BB962C8B-B14F-4D97-AF65-F5344CB8AC3E}">
        <p14:creationId xmlns:p14="http://schemas.microsoft.com/office/powerpoint/2010/main" val="1992190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urquoise background_logo_left">
    <p:bg>
      <p:bgPr>
        <a:solidFill>
          <a:srgbClr val="30B3A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7B511B-4514-4680-80D8-C2E72C3497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749" y="440663"/>
            <a:ext cx="206576" cy="288000"/>
          </a:xfrm>
          <a:prstGeom prst="rect">
            <a:avLst/>
          </a:prstGeom>
        </p:spPr>
      </p:pic>
    </p:spTree>
    <p:extLst>
      <p:ext uri="{BB962C8B-B14F-4D97-AF65-F5344CB8AC3E}">
        <p14:creationId xmlns:p14="http://schemas.microsoft.com/office/powerpoint/2010/main" val="1335805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Yellow background _logo_right">
    <p:bg>
      <p:bgPr>
        <a:solidFill>
          <a:srgbClr val="FFCF2E"/>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7B511B-4514-4680-80D8-C2E72C3497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96675" y="440663"/>
            <a:ext cx="206576" cy="288000"/>
          </a:xfrm>
          <a:prstGeom prst="rect">
            <a:avLst/>
          </a:prstGeom>
        </p:spPr>
      </p:pic>
    </p:spTree>
    <p:extLst>
      <p:ext uri="{BB962C8B-B14F-4D97-AF65-F5344CB8AC3E}">
        <p14:creationId xmlns:p14="http://schemas.microsoft.com/office/powerpoint/2010/main" val="2344754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Yellow background _logo_left">
    <p:bg>
      <p:bgPr>
        <a:solidFill>
          <a:srgbClr val="FFCF2E"/>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9FC57D-A3DC-407A-90BC-A4BCB90EEA8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749" y="440663"/>
            <a:ext cx="206576" cy="288000"/>
          </a:xfrm>
          <a:prstGeom prst="rect">
            <a:avLst/>
          </a:prstGeom>
        </p:spPr>
      </p:pic>
    </p:spTree>
    <p:extLst>
      <p:ext uri="{BB962C8B-B14F-4D97-AF65-F5344CB8AC3E}">
        <p14:creationId xmlns:p14="http://schemas.microsoft.com/office/powerpoint/2010/main" val="599679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Yellow background _no logo">
    <p:bg>
      <p:bgPr>
        <a:solidFill>
          <a:srgbClr val="FFCF2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1750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urquoise background _no logo">
    <p:bg>
      <p:bgPr>
        <a:solidFill>
          <a:srgbClr val="30B3A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2186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illing_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E70A9C7-B0C5-49A1-AEB8-91801ABCBD50}"/>
              </a:ext>
            </a:extLst>
          </p:cNvPr>
          <p:cNvSpPr>
            <a:spLocks noGrp="1"/>
          </p:cNvSpPr>
          <p:nvPr>
            <p:ph type="pic" sz="quarter" idx="10"/>
          </p:nvPr>
        </p:nvSpPr>
        <p:spPr>
          <a:xfrm>
            <a:off x="0" y="0"/>
            <a:ext cx="12192000" cy="6858000"/>
          </a:xfrm>
        </p:spPr>
        <p:txBody>
          <a:bodyPr/>
          <a:lstStyle/>
          <a:p>
            <a:r>
              <a:rPr lang="en-US"/>
              <a:t>Click icon to add picture</a:t>
            </a:r>
            <a:endParaRPr lang="nl-NL"/>
          </a:p>
        </p:txBody>
      </p:sp>
    </p:spTree>
    <p:extLst>
      <p:ext uri="{BB962C8B-B14F-4D97-AF65-F5344CB8AC3E}">
        <p14:creationId xmlns:p14="http://schemas.microsoft.com/office/powerpoint/2010/main" val="192204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2773C5C5-D292-4D9E-AC04-BAE6C00506C0}"/>
              </a:ext>
            </a:extLst>
          </p:cNvPr>
          <p:cNvSpPr>
            <a:spLocks noGrp="1"/>
          </p:cNvSpPr>
          <p:nvPr>
            <p:ph type="pic" sz="quarter" idx="10"/>
          </p:nvPr>
        </p:nvSpPr>
        <p:spPr>
          <a:xfrm>
            <a:off x="6522720" y="734331"/>
            <a:ext cx="4973955" cy="2433683"/>
          </a:xfrm>
          <a:custGeom>
            <a:avLst/>
            <a:gdLst>
              <a:gd name="connsiteX0" fmla="*/ 0 w 2564091"/>
              <a:gd name="connsiteY0" fmla="*/ 0 h 6858000"/>
              <a:gd name="connsiteX1" fmla="*/ 2564091 w 2564091"/>
              <a:gd name="connsiteY1" fmla="*/ 0 h 6858000"/>
              <a:gd name="connsiteX2" fmla="*/ 2564091 w 2564091"/>
              <a:gd name="connsiteY2" fmla="*/ 6858000 h 6858000"/>
              <a:gd name="connsiteX3" fmla="*/ 0 w 25640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564091" h="6858000">
                <a:moveTo>
                  <a:pt x="0" y="0"/>
                </a:moveTo>
                <a:lnTo>
                  <a:pt x="2564091" y="0"/>
                </a:lnTo>
                <a:lnTo>
                  <a:pt x="2564091" y="6858000"/>
                </a:lnTo>
                <a:lnTo>
                  <a:pt x="0" y="6858000"/>
                </a:lnTo>
                <a:close/>
              </a:path>
            </a:pathLst>
          </a:custGeom>
        </p:spPr>
        <p:txBody>
          <a:bodyPr wrap="square">
            <a:noAutofit/>
          </a:bodyPr>
          <a:lstStyle/>
          <a:p>
            <a:r>
              <a:rPr lang="en-US"/>
              <a:t>Click icon to add picture</a:t>
            </a:r>
          </a:p>
        </p:txBody>
      </p:sp>
      <p:sp>
        <p:nvSpPr>
          <p:cNvPr id="11" name="Picture Placeholder 10">
            <a:extLst>
              <a:ext uri="{FF2B5EF4-FFF2-40B4-BE49-F238E27FC236}">
                <a16:creationId xmlns:a16="http://schemas.microsoft.com/office/drawing/2014/main" id="{001A77D0-6BA8-43B3-A71B-85D425A09DF0}"/>
              </a:ext>
            </a:extLst>
          </p:cNvPr>
          <p:cNvSpPr>
            <a:spLocks noGrp="1"/>
          </p:cNvSpPr>
          <p:nvPr>
            <p:ph type="pic" sz="quarter" idx="11"/>
          </p:nvPr>
        </p:nvSpPr>
        <p:spPr>
          <a:xfrm>
            <a:off x="6522719" y="3695655"/>
            <a:ext cx="4973955" cy="2433683"/>
          </a:xfrm>
          <a:custGeom>
            <a:avLst/>
            <a:gdLst>
              <a:gd name="connsiteX0" fmla="*/ 0 w 2564091"/>
              <a:gd name="connsiteY0" fmla="*/ 0 h 6858000"/>
              <a:gd name="connsiteX1" fmla="*/ 2564091 w 2564091"/>
              <a:gd name="connsiteY1" fmla="*/ 0 h 6858000"/>
              <a:gd name="connsiteX2" fmla="*/ 2564091 w 2564091"/>
              <a:gd name="connsiteY2" fmla="*/ 6858000 h 6858000"/>
              <a:gd name="connsiteX3" fmla="*/ 0 w 25640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564091" h="6858000">
                <a:moveTo>
                  <a:pt x="0" y="0"/>
                </a:moveTo>
                <a:lnTo>
                  <a:pt x="2564091" y="0"/>
                </a:lnTo>
                <a:lnTo>
                  <a:pt x="2564091" y="6858000"/>
                </a:lnTo>
                <a:lnTo>
                  <a:pt x="0" y="6858000"/>
                </a:ln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4234792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ogo_large_blu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0E708D-D4EF-45EC-BC3B-64BA4E7B523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833834" y="-436760"/>
            <a:ext cx="4716331" cy="6566098"/>
          </a:xfrm>
          <a:prstGeom prst="rect">
            <a:avLst/>
          </a:prstGeom>
        </p:spPr>
      </p:pic>
    </p:spTree>
    <p:extLst>
      <p:ext uri="{BB962C8B-B14F-4D97-AF65-F5344CB8AC3E}">
        <p14:creationId xmlns:p14="http://schemas.microsoft.com/office/powerpoint/2010/main" val="2141803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Logo_lar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B11E52-1BDC-4004-9EB1-4C896BB2CD2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833834" y="-436760"/>
            <a:ext cx="4716331" cy="6566098"/>
          </a:xfrm>
          <a:prstGeom prst="rect">
            <a:avLst/>
          </a:prstGeom>
        </p:spPr>
      </p:pic>
    </p:spTree>
    <p:extLst>
      <p:ext uri="{BB962C8B-B14F-4D97-AF65-F5344CB8AC3E}">
        <p14:creationId xmlns:p14="http://schemas.microsoft.com/office/powerpoint/2010/main" val="7302799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2773C5C5-D292-4D9E-AC04-BAE6C00506C0}"/>
              </a:ext>
            </a:extLst>
          </p:cNvPr>
          <p:cNvSpPr>
            <a:spLocks noGrp="1"/>
          </p:cNvSpPr>
          <p:nvPr>
            <p:ph type="pic" sz="quarter" idx="10"/>
          </p:nvPr>
        </p:nvSpPr>
        <p:spPr>
          <a:xfrm>
            <a:off x="6522720" y="2212158"/>
            <a:ext cx="4973955" cy="2433683"/>
          </a:xfrm>
          <a:custGeom>
            <a:avLst/>
            <a:gdLst>
              <a:gd name="connsiteX0" fmla="*/ 0 w 2564091"/>
              <a:gd name="connsiteY0" fmla="*/ 0 h 6858000"/>
              <a:gd name="connsiteX1" fmla="*/ 2564091 w 2564091"/>
              <a:gd name="connsiteY1" fmla="*/ 0 h 6858000"/>
              <a:gd name="connsiteX2" fmla="*/ 2564091 w 2564091"/>
              <a:gd name="connsiteY2" fmla="*/ 6858000 h 6858000"/>
              <a:gd name="connsiteX3" fmla="*/ 0 w 25640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564091" h="6858000">
                <a:moveTo>
                  <a:pt x="0" y="0"/>
                </a:moveTo>
                <a:lnTo>
                  <a:pt x="2564091" y="0"/>
                </a:lnTo>
                <a:lnTo>
                  <a:pt x="2564091" y="6858000"/>
                </a:lnTo>
                <a:lnTo>
                  <a:pt x="0" y="6858000"/>
                </a:lnTo>
                <a:close/>
              </a:path>
            </a:pathLst>
          </a:custGeom>
        </p:spPr>
        <p:txBody>
          <a:bodyPr wrap="square">
            <a:noAutofit/>
          </a:bodyPr>
          <a:lstStyle/>
          <a:p>
            <a:r>
              <a:rPr lang="en-US"/>
              <a:t>Click icon to add picture</a:t>
            </a:r>
          </a:p>
        </p:txBody>
      </p:sp>
      <p:pic>
        <p:nvPicPr>
          <p:cNvPr id="3" name="Graphic 2">
            <a:extLst>
              <a:ext uri="{FF2B5EF4-FFF2-40B4-BE49-F238E27FC236}">
                <a16:creationId xmlns:a16="http://schemas.microsoft.com/office/drawing/2014/main" id="{49142BC2-BD5E-4504-B1DB-C4E80F51A9D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96675" y="440663"/>
            <a:ext cx="207066" cy="288000"/>
          </a:xfrm>
          <a:prstGeom prst="rect">
            <a:avLst/>
          </a:prstGeom>
        </p:spPr>
      </p:pic>
    </p:spTree>
    <p:extLst>
      <p:ext uri="{BB962C8B-B14F-4D97-AF65-F5344CB8AC3E}">
        <p14:creationId xmlns:p14="http://schemas.microsoft.com/office/powerpoint/2010/main" val="41159034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alf picture_Right">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6096000" y="0"/>
            <a:ext cx="6096000" cy="6858000"/>
          </a:xfrm>
          <a:custGeom>
            <a:avLst/>
            <a:gdLst>
              <a:gd name="connsiteX0" fmla="*/ 0 w 2564091"/>
              <a:gd name="connsiteY0" fmla="*/ 0 h 6858000"/>
              <a:gd name="connsiteX1" fmla="*/ 2564091 w 2564091"/>
              <a:gd name="connsiteY1" fmla="*/ 0 h 6858000"/>
              <a:gd name="connsiteX2" fmla="*/ 2564091 w 2564091"/>
              <a:gd name="connsiteY2" fmla="*/ 6858000 h 6858000"/>
              <a:gd name="connsiteX3" fmla="*/ 0 w 25640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564091" h="6858000">
                <a:moveTo>
                  <a:pt x="0" y="0"/>
                </a:moveTo>
                <a:lnTo>
                  <a:pt x="2564091" y="0"/>
                </a:lnTo>
                <a:lnTo>
                  <a:pt x="2564091" y="6858000"/>
                </a:lnTo>
                <a:lnTo>
                  <a:pt x="0" y="6858000"/>
                </a:ln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11385037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5910472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EDBA90-27D3-44FC-A974-804C4F719F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371303" y="1299861"/>
            <a:ext cx="2179780" cy="4258277"/>
          </a:xfrm>
          <a:prstGeom prst="rect">
            <a:avLst/>
          </a:prstGeom>
        </p:spPr>
      </p:pic>
      <p:pic>
        <p:nvPicPr>
          <p:cNvPr id="4" name="Picture 3">
            <a:extLst>
              <a:ext uri="{FF2B5EF4-FFF2-40B4-BE49-F238E27FC236}">
                <a16:creationId xmlns:a16="http://schemas.microsoft.com/office/drawing/2014/main" id="{D60D9B80-28A7-43E6-B4AE-D2C32EDD22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17273" y="1299861"/>
            <a:ext cx="2179780" cy="4258277"/>
          </a:xfrm>
          <a:prstGeom prst="rect">
            <a:avLst/>
          </a:prstGeom>
        </p:spPr>
      </p:pic>
      <p:pic>
        <p:nvPicPr>
          <p:cNvPr id="5" name="Picture 4">
            <a:extLst>
              <a:ext uri="{FF2B5EF4-FFF2-40B4-BE49-F238E27FC236}">
                <a16:creationId xmlns:a16="http://schemas.microsoft.com/office/drawing/2014/main" id="{802B4DB3-0FD4-4697-B887-22234B74D5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440927" y="1299861"/>
            <a:ext cx="2179780" cy="4258277"/>
          </a:xfrm>
          <a:prstGeom prst="rect">
            <a:avLst/>
          </a:prstGeom>
        </p:spPr>
      </p:pic>
      <p:sp>
        <p:nvSpPr>
          <p:cNvPr id="6" name="Picture Placeholder 2">
            <a:extLst>
              <a:ext uri="{FF2B5EF4-FFF2-40B4-BE49-F238E27FC236}">
                <a16:creationId xmlns:a16="http://schemas.microsoft.com/office/drawing/2014/main" id="{69BF521E-C327-4E54-9C17-DA3D0E015AB8}"/>
              </a:ext>
            </a:extLst>
          </p:cNvPr>
          <p:cNvSpPr>
            <a:spLocks noGrp="1"/>
          </p:cNvSpPr>
          <p:nvPr>
            <p:ph type="pic" sz="quarter" idx="11" hasCustomPrompt="1"/>
          </p:nvPr>
        </p:nvSpPr>
        <p:spPr>
          <a:xfrm>
            <a:off x="5624938" y="1954530"/>
            <a:ext cx="1659300" cy="2948940"/>
          </a:xfrm>
          <a:prstGeom prst="rect">
            <a:avLst/>
          </a:prstGeom>
          <a:noFill/>
          <a:effectLst/>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
        <p:nvSpPr>
          <p:cNvPr id="7" name="Picture Placeholder 2">
            <a:extLst>
              <a:ext uri="{FF2B5EF4-FFF2-40B4-BE49-F238E27FC236}">
                <a16:creationId xmlns:a16="http://schemas.microsoft.com/office/drawing/2014/main" id="{F2233FAE-D380-41C6-B1B4-19A512DFA116}"/>
              </a:ext>
            </a:extLst>
          </p:cNvPr>
          <p:cNvSpPr>
            <a:spLocks noGrp="1"/>
          </p:cNvSpPr>
          <p:nvPr>
            <p:ph type="pic" sz="quarter" idx="12" hasCustomPrompt="1"/>
          </p:nvPr>
        </p:nvSpPr>
        <p:spPr>
          <a:xfrm>
            <a:off x="7677935" y="1954529"/>
            <a:ext cx="1659300" cy="2948940"/>
          </a:xfrm>
          <a:prstGeom prst="rect">
            <a:avLst/>
          </a:prstGeom>
          <a:noFill/>
          <a:effectLst/>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
        <p:nvSpPr>
          <p:cNvPr id="8" name="Picture Placeholder 2">
            <a:extLst>
              <a:ext uri="{FF2B5EF4-FFF2-40B4-BE49-F238E27FC236}">
                <a16:creationId xmlns:a16="http://schemas.microsoft.com/office/drawing/2014/main" id="{267AC20A-5F39-4ECA-8625-D9CE7A1E2A38}"/>
              </a:ext>
            </a:extLst>
          </p:cNvPr>
          <p:cNvSpPr>
            <a:spLocks noGrp="1"/>
          </p:cNvSpPr>
          <p:nvPr>
            <p:ph type="pic" sz="quarter" idx="13" hasCustomPrompt="1"/>
          </p:nvPr>
        </p:nvSpPr>
        <p:spPr>
          <a:xfrm>
            <a:off x="9704206" y="1955073"/>
            <a:ext cx="1659300" cy="2948940"/>
          </a:xfrm>
          <a:prstGeom prst="rect">
            <a:avLst/>
          </a:prstGeom>
          <a:noFill/>
          <a:effectLst/>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extLst>
      <p:ext uri="{BB962C8B-B14F-4D97-AF65-F5344CB8AC3E}">
        <p14:creationId xmlns:p14="http://schemas.microsoft.com/office/powerpoint/2010/main" val="2610458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E96FB0-2DD1-4E26-A5FB-C39C25C302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73662" y="1343819"/>
            <a:ext cx="3349525" cy="4650581"/>
          </a:xfrm>
          <a:prstGeom prst="rect">
            <a:avLst/>
          </a:prstGeom>
          <a:effectLst/>
        </p:spPr>
      </p:pic>
      <p:sp>
        <p:nvSpPr>
          <p:cNvPr id="6" name="Picture Placeholder 2">
            <a:extLst>
              <a:ext uri="{FF2B5EF4-FFF2-40B4-BE49-F238E27FC236}">
                <a16:creationId xmlns:a16="http://schemas.microsoft.com/office/drawing/2014/main" id="{68D4945C-50C4-46BF-A770-3F909F0B1A9B}"/>
              </a:ext>
            </a:extLst>
          </p:cNvPr>
          <p:cNvSpPr>
            <a:spLocks noGrp="1"/>
          </p:cNvSpPr>
          <p:nvPr>
            <p:ph type="pic" sz="quarter" idx="15" hasCustomPrompt="1"/>
          </p:nvPr>
        </p:nvSpPr>
        <p:spPr>
          <a:xfrm>
            <a:off x="922432" y="1893755"/>
            <a:ext cx="2651984" cy="3548196"/>
          </a:xfrm>
          <a:prstGeom prst="rect">
            <a:avLst/>
          </a:prstGeom>
          <a:noFill/>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pic>
        <p:nvPicPr>
          <p:cNvPr id="4" name="Picture 3">
            <a:extLst>
              <a:ext uri="{FF2B5EF4-FFF2-40B4-BE49-F238E27FC236}">
                <a16:creationId xmlns:a16="http://schemas.microsoft.com/office/drawing/2014/main" id="{0C9CE646-B9E9-4E94-AA06-B8C315C204B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857397" y="2033695"/>
            <a:ext cx="1905358" cy="3884505"/>
          </a:xfrm>
          <a:prstGeom prst="rect">
            <a:avLst/>
          </a:prstGeom>
        </p:spPr>
      </p:pic>
      <p:sp>
        <p:nvSpPr>
          <p:cNvPr id="7" name="Picture Placeholder 2">
            <a:extLst>
              <a:ext uri="{FF2B5EF4-FFF2-40B4-BE49-F238E27FC236}">
                <a16:creationId xmlns:a16="http://schemas.microsoft.com/office/drawing/2014/main" id="{8FA79431-BBFA-4D41-B1D9-32FAA01C2653}"/>
              </a:ext>
            </a:extLst>
          </p:cNvPr>
          <p:cNvSpPr>
            <a:spLocks noGrp="1"/>
          </p:cNvSpPr>
          <p:nvPr>
            <p:ph type="pic" sz="quarter" idx="10" hasCustomPrompt="1"/>
          </p:nvPr>
        </p:nvSpPr>
        <p:spPr>
          <a:xfrm>
            <a:off x="3988977" y="2528842"/>
            <a:ext cx="1645854" cy="2913257"/>
          </a:xfrm>
          <a:prstGeom prst="rect">
            <a:avLst/>
          </a:prstGeom>
          <a:noFill/>
        </p:spPr>
        <p:txBody>
          <a:bodyPr anchor="ctr"/>
          <a:lstStyle>
            <a:lvl1pPr algn="ctr">
              <a:defRPr sz="1600" b="0" i="0">
                <a:latin typeface="Titillium" charset="0"/>
                <a:ea typeface="Titillium" charset="0"/>
                <a:cs typeface="Titillium" charset="0"/>
              </a:defRPr>
            </a:lvl1pPr>
          </a:lstStyle>
          <a:p>
            <a:r>
              <a:rPr lang="en-US"/>
              <a:t>Insert Image</a:t>
            </a:r>
          </a:p>
        </p:txBody>
      </p:sp>
    </p:spTree>
    <p:extLst>
      <p:ext uri="{BB962C8B-B14F-4D97-AF65-F5344CB8AC3E}">
        <p14:creationId xmlns:p14="http://schemas.microsoft.com/office/powerpoint/2010/main" val="1803338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E96FB0-2DD1-4E26-A5FB-C39C25C302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12291" y="835819"/>
            <a:ext cx="3735415" cy="5186362"/>
          </a:xfrm>
          <a:prstGeom prst="rect">
            <a:avLst/>
          </a:prstGeom>
          <a:effectLst/>
        </p:spPr>
      </p:pic>
      <p:sp>
        <p:nvSpPr>
          <p:cNvPr id="6" name="Picture Placeholder 2">
            <a:extLst>
              <a:ext uri="{FF2B5EF4-FFF2-40B4-BE49-F238E27FC236}">
                <a16:creationId xmlns:a16="http://schemas.microsoft.com/office/drawing/2014/main" id="{68D4945C-50C4-46BF-A770-3F909F0B1A9B}"/>
              </a:ext>
            </a:extLst>
          </p:cNvPr>
          <p:cNvSpPr>
            <a:spLocks noGrp="1"/>
          </p:cNvSpPr>
          <p:nvPr>
            <p:ph type="pic" sz="quarter" idx="15" hasCustomPrompt="1"/>
          </p:nvPr>
        </p:nvSpPr>
        <p:spPr>
          <a:xfrm>
            <a:off x="7996238" y="1446235"/>
            <a:ext cx="2957512" cy="3965530"/>
          </a:xfrm>
          <a:prstGeom prst="rect">
            <a:avLst/>
          </a:prstGeom>
          <a:noFill/>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extLst>
      <p:ext uri="{BB962C8B-B14F-4D97-AF65-F5344CB8AC3E}">
        <p14:creationId xmlns:p14="http://schemas.microsoft.com/office/powerpoint/2010/main" val="17485416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116BB1-65B3-4E39-9D6D-1084F5543B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938007" y="1043735"/>
            <a:ext cx="8125020" cy="4770530"/>
          </a:xfrm>
          <a:prstGeom prst="rect">
            <a:avLst/>
          </a:prstGeom>
          <a:effectLst/>
        </p:spPr>
      </p:pic>
      <p:sp>
        <p:nvSpPr>
          <p:cNvPr id="4" name="Picture Placeholder 2">
            <a:extLst>
              <a:ext uri="{FF2B5EF4-FFF2-40B4-BE49-F238E27FC236}">
                <a16:creationId xmlns:a16="http://schemas.microsoft.com/office/drawing/2014/main" id="{FC2B9FDF-1B12-46C3-A193-CF92C3F35758}"/>
              </a:ext>
            </a:extLst>
          </p:cNvPr>
          <p:cNvSpPr>
            <a:spLocks noGrp="1"/>
          </p:cNvSpPr>
          <p:nvPr>
            <p:ph type="pic" sz="quarter" idx="12" hasCustomPrompt="1"/>
          </p:nvPr>
        </p:nvSpPr>
        <p:spPr>
          <a:xfrm>
            <a:off x="6936128" y="1384300"/>
            <a:ext cx="6068672" cy="3822700"/>
          </a:xfrm>
          <a:prstGeom prst="rect">
            <a:avLst/>
          </a:prstGeom>
          <a:noFill/>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extLst>
      <p:ext uri="{BB962C8B-B14F-4D97-AF65-F5344CB8AC3E}">
        <p14:creationId xmlns:p14="http://schemas.microsoft.com/office/powerpoint/2010/main" val="37940976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ffectory Logo_1">
    <p:bg>
      <p:bgPr>
        <a:solidFill>
          <a:srgbClr val="FFCF2E"/>
        </a:solidFill>
        <a:effectLst/>
      </p:bgPr>
    </p:bg>
    <p:spTree>
      <p:nvGrpSpPr>
        <p:cNvPr id="1" name=""/>
        <p:cNvGrpSpPr/>
        <p:nvPr/>
      </p:nvGrpSpPr>
      <p:grpSpPr>
        <a:xfrm>
          <a:off x="0" y="0"/>
          <a:ext cx="0" cy="0"/>
          <a:chOff x="0" y="0"/>
          <a:chExt cx="0" cy="0"/>
        </a:xfrm>
      </p:grpSpPr>
      <p:pic>
        <p:nvPicPr>
          <p:cNvPr id="7" name="Afbeelding 25" descr="Effectory_Logo_Icon.png">
            <a:extLst>
              <a:ext uri="{FF2B5EF4-FFF2-40B4-BE49-F238E27FC236}">
                <a16:creationId xmlns:a16="http://schemas.microsoft.com/office/drawing/2014/main" id="{9E4D6AE7-73F3-445A-9D98-BE0E77BAD51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96675" y="439341"/>
            <a:ext cx="208069" cy="289322"/>
          </a:xfrm>
          <a:prstGeom prst="rect">
            <a:avLst/>
          </a:prstGeom>
        </p:spPr>
      </p:pic>
      <p:sp>
        <p:nvSpPr>
          <p:cNvPr id="8" name="Tekstvak 6">
            <a:extLst>
              <a:ext uri="{FF2B5EF4-FFF2-40B4-BE49-F238E27FC236}">
                <a16:creationId xmlns:a16="http://schemas.microsoft.com/office/drawing/2014/main" id="{2E1E6A03-FDDB-47DF-BB61-1B3EF91A56B6}"/>
              </a:ext>
            </a:extLst>
          </p:cNvPr>
          <p:cNvSpPr txBox="1"/>
          <p:nvPr userDrawn="1"/>
        </p:nvSpPr>
        <p:spPr>
          <a:xfrm>
            <a:off x="5415451" y="3338439"/>
            <a:ext cx="5215468" cy="461665"/>
          </a:xfrm>
          <a:prstGeom prst="rect">
            <a:avLst/>
          </a:prstGeom>
          <a:noFill/>
        </p:spPr>
        <p:txBody>
          <a:bodyPr wrap="square" rtlCol="0">
            <a:spAutoFit/>
          </a:bodyPr>
          <a:lstStyle/>
          <a:p>
            <a:pPr defTabSz="609585"/>
            <a:r>
              <a:rPr lang="nl-NL" sz="2400" b="1" spc="-67" err="1">
                <a:solidFill>
                  <a:srgbClr val="192743"/>
                </a:solidFill>
                <a:latin typeface="Century Gothic"/>
                <a:cs typeface="Century Gothic"/>
              </a:rPr>
              <a:t>Leading</a:t>
            </a:r>
            <a:r>
              <a:rPr lang="nl-NL" sz="2400" b="1" spc="-67">
                <a:solidFill>
                  <a:srgbClr val="192743"/>
                </a:solidFill>
                <a:latin typeface="Century Gothic"/>
                <a:cs typeface="Century Gothic"/>
              </a:rPr>
              <a:t> in employee feedback</a:t>
            </a:r>
          </a:p>
        </p:txBody>
      </p:sp>
      <p:pic>
        <p:nvPicPr>
          <p:cNvPr id="9" name="Afbeelding 8" descr="Effectory_Logo_horizontal.png">
            <a:extLst>
              <a:ext uri="{FF2B5EF4-FFF2-40B4-BE49-F238E27FC236}">
                <a16:creationId xmlns:a16="http://schemas.microsoft.com/office/drawing/2014/main" id="{33D9CF47-53EB-414F-9706-0C09F83250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792940" y="3154843"/>
            <a:ext cx="3337904" cy="697144"/>
          </a:xfrm>
          <a:prstGeom prst="rect">
            <a:avLst/>
          </a:prstGeom>
        </p:spPr>
      </p:pic>
    </p:spTree>
    <p:extLst>
      <p:ext uri="{BB962C8B-B14F-4D97-AF65-F5344CB8AC3E}">
        <p14:creationId xmlns:p14="http://schemas.microsoft.com/office/powerpoint/2010/main" val="5669765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ffectory Logo_2">
    <p:bg>
      <p:bgPr>
        <a:solidFill>
          <a:srgbClr val="30B3AF"/>
        </a:solidFill>
        <a:effectLst/>
      </p:bgPr>
    </p:bg>
    <p:spTree>
      <p:nvGrpSpPr>
        <p:cNvPr id="1" name=""/>
        <p:cNvGrpSpPr/>
        <p:nvPr/>
      </p:nvGrpSpPr>
      <p:grpSpPr>
        <a:xfrm>
          <a:off x="0" y="0"/>
          <a:ext cx="0" cy="0"/>
          <a:chOff x="0" y="0"/>
          <a:chExt cx="0" cy="0"/>
        </a:xfrm>
      </p:grpSpPr>
      <p:pic>
        <p:nvPicPr>
          <p:cNvPr id="3" name="Afbeelding 25" descr="Effectory_Logo_Icon.png">
            <a:extLst>
              <a:ext uri="{FF2B5EF4-FFF2-40B4-BE49-F238E27FC236}">
                <a16:creationId xmlns:a16="http://schemas.microsoft.com/office/drawing/2014/main" id="{FCAAB506-F9D9-4521-B242-202864D1EC9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96675" y="439341"/>
            <a:ext cx="208069" cy="289322"/>
          </a:xfrm>
          <a:prstGeom prst="rect">
            <a:avLst/>
          </a:prstGeom>
        </p:spPr>
      </p:pic>
      <p:sp>
        <p:nvSpPr>
          <p:cNvPr id="4" name="Tekstvak 6">
            <a:extLst>
              <a:ext uri="{FF2B5EF4-FFF2-40B4-BE49-F238E27FC236}">
                <a16:creationId xmlns:a16="http://schemas.microsoft.com/office/drawing/2014/main" id="{88B2011A-E540-4B1D-A642-8A240474BB16}"/>
              </a:ext>
            </a:extLst>
          </p:cNvPr>
          <p:cNvSpPr txBox="1"/>
          <p:nvPr userDrawn="1"/>
        </p:nvSpPr>
        <p:spPr>
          <a:xfrm>
            <a:off x="5415451" y="3338439"/>
            <a:ext cx="5215468" cy="461665"/>
          </a:xfrm>
          <a:prstGeom prst="rect">
            <a:avLst/>
          </a:prstGeom>
          <a:noFill/>
        </p:spPr>
        <p:txBody>
          <a:bodyPr wrap="square" rtlCol="0">
            <a:spAutoFit/>
          </a:bodyPr>
          <a:lstStyle/>
          <a:p>
            <a:pPr defTabSz="609585"/>
            <a:r>
              <a:rPr lang="nl-NL" sz="2400" b="1" spc="-67" err="1">
                <a:solidFill>
                  <a:srgbClr val="192743"/>
                </a:solidFill>
                <a:latin typeface="+mj-lt"/>
                <a:cs typeface="Century Gothic"/>
              </a:rPr>
              <a:t>Leading</a:t>
            </a:r>
            <a:r>
              <a:rPr lang="nl-NL" sz="2400" b="1" spc="-67">
                <a:solidFill>
                  <a:srgbClr val="192743"/>
                </a:solidFill>
                <a:latin typeface="+mj-lt"/>
                <a:cs typeface="Century Gothic"/>
              </a:rPr>
              <a:t> in employee feedback</a:t>
            </a:r>
          </a:p>
        </p:txBody>
      </p:sp>
      <p:pic>
        <p:nvPicPr>
          <p:cNvPr id="5" name="Afbeelding 8" descr="Effectory_Logo_horizontal.png">
            <a:extLst>
              <a:ext uri="{FF2B5EF4-FFF2-40B4-BE49-F238E27FC236}">
                <a16:creationId xmlns:a16="http://schemas.microsoft.com/office/drawing/2014/main" id="{0B611E9F-999F-4B45-A7E2-D986421A9FB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792940" y="3154843"/>
            <a:ext cx="3337904" cy="697144"/>
          </a:xfrm>
          <a:prstGeom prst="rect">
            <a:avLst/>
          </a:prstGeom>
        </p:spPr>
      </p:pic>
    </p:spTree>
    <p:extLst>
      <p:ext uri="{BB962C8B-B14F-4D97-AF65-F5344CB8AC3E}">
        <p14:creationId xmlns:p14="http://schemas.microsoft.com/office/powerpoint/2010/main" val="37648650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No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2715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80BA03-3D10-4EA4-B26E-9829DB3E18E2}"/>
              </a:ext>
            </a:extLst>
          </p:cNvPr>
          <p:cNvSpPr>
            <a:spLocks noGrp="1"/>
          </p:cNvSpPr>
          <p:nvPr>
            <p:ph type="title"/>
          </p:nvPr>
        </p:nvSpPr>
        <p:spPr>
          <a:xfrm>
            <a:off x="838200" y="810705"/>
            <a:ext cx="10515600" cy="87998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1E54C331-1DD5-46D7-B88E-F36C6D3AB319}"/>
              </a:ext>
            </a:extLst>
          </p:cNvPr>
          <p:cNvSpPr>
            <a:spLocks noGrp="1"/>
          </p:cNvSpPr>
          <p:nvPr>
            <p:ph type="body" idx="1"/>
          </p:nvPr>
        </p:nvSpPr>
        <p:spPr>
          <a:xfrm>
            <a:off x="838200" y="1825625"/>
            <a:ext cx="10515600" cy="252013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233046492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3" r:id="rId3"/>
    <p:sldLayoutId id="2147483672" r:id="rId4"/>
    <p:sldLayoutId id="2147483674" r:id="rId5"/>
    <p:sldLayoutId id="2147483675" r:id="rId6"/>
    <p:sldLayoutId id="2147483676" r:id="rId7"/>
    <p:sldLayoutId id="2147483669" r:id="rId8"/>
    <p:sldLayoutId id="2147483650" r:id="rId9"/>
    <p:sldLayoutId id="2147483677" r:id="rId10"/>
    <p:sldLayoutId id="2147483678" r:id="rId11"/>
    <p:sldLayoutId id="2147483670" r:id="rId12"/>
    <p:sldLayoutId id="2147483668" r:id="rId13"/>
    <p:sldLayoutId id="2147483679" r:id="rId14"/>
    <p:sldLayoutId id="2147483681" r:id="rId15"/>
    <p:sldLayoutId id="2147483682" r:id="rId16"/>
    <p:sldLayoutId id="2147483683" r:id="rId17"/>
    <p:sldLayoutId id="2147483684" r:id="rId18"/>
    <p:sldLayoutId id="2147483649" r:id="rId19"/>
    <p:sldLayoutId id="2147483660" r:id="rId20"/>
    <p:sldLayoutId id="2147483686" r:id="rId21"/>
  </p:sldLayoutIdLst>
  <p:txStyles>
    <p:titleStyle>
      <a:lvl1pPr algn="l" defTabSz="914400" rtl="0" eaLnBrk="1" latinLnBrk="0" hangingPunct="1">
        <a:lnSpc>
          <a:spcPct val="90000"/>
        </a:lnSpc>
        <a:spcBef>
          <a:spcPct val="0"/>
        </a:spcBef>
        <a:buNone/>
        <a:defRPr sz="3000" b="1" kern="1200">
          <a:solidFill>
            <a:srgbClr val="192743"/>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92743"/>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92743"/>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92743"/>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92743"/>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92743"/>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p15:clr>
            <a:srgbClr val="F26B43"/>
          </p15:clr>
        </p15:guide>
        <p15:guide id="2" pos="7242">
          <p15:clr>
            <a:srgbClr val="F26B43"/>
          </p15:clr>
        </p15:guide>
        <p15:guide id="3" orient="horz" pos="459">
          <p15:clr>
            <a:srgbClr val="F26B43"/>
          </p15:clr>
        </p15:guide>
        <p15:guide id="4" orient="horz" pos="386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wall, yellow&#10;&#10;Description automatically generated">
            <a:extLst>
              <a:ext uri="{FF2B5EF4-FFF2-40B4-BE49-F238E27FC236}">
                <a16:creationId xmlns:a16="http://schemas.microsoft.com/office/drawing/2014/main" id="{76ACF4ED-30A1-457F-AF9F-B593B9C1C13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9843" b="5781"/>
          <a:stretch/>
        </p:blipFill>
        <p:spPr>
          <a:xfrm>
            <a:off x="0" y="0"/>
            <a:ext cx="12192000" cy="6858000"/>
          </a:xfrm>
          <a:prstGeom prst="rect">
            <a:avLst/>
          </a:prstGeom>
        </p:spPr>
      </p:pic>
      <p:sp>
        <p:nvSpPr>
          <p:cNvPr id="10" name="Text Placeholder 3">
            <a:extLst>
              <a:ext uri="{FF2B5EF4-FFF2-40B4-BE49-F238E27FC236}">
                <a16:creationId xmlns:a16="http://schemas.microsoft.com/office/drawing/2014/main" id="{2193BC94-14FE-49F6-8AEA-333ED2FD69A7}"/>
              </a:ext>
            </a:extLst>
          </p:cNvPr>
          <p:cNvSpPr txBox="1">
            <a:spLocks/>
          </p:cNvSpPr>
          <p:nvPr/>
        </p:nvSpPr>
        <p:spPr>
          <a:xfrm>
            <a:off x="1106973" y="3872725"/>
            <a:ext cx="4903301" cy="3333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92743"/>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92743"/>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92743"/>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92743"/>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92743"/>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lang="en-US" sz="4000" b="1" dirty="0">
                <a:solidFill>
                  <a:schemeClr val="tx1"/>
                </a:solidFill>
                <a:ea typeface="Open Sans Semibold" panose="020B0706030804020204" pitchFamily="34" charset="0"/>
                <a:cs typeface="Poppins SemiBold"/>
              </a:rPr>
              <a:t>Case</a:t>
            </a:r>
          </a:p>
          <a:p>
            <a:pPr marL="0" marR="0" lvl="0" indent="0" algn="l"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lang="en-US" sz="4000" b="1" dirty="0">
                <a:solidFill>
                  <a:schemeClr val="bg1"/>
                </a:solidFill>
                <a:ea typeface="Open Sans Semibold" panose="020B0706030804020204" pitchFamily="34" charset="0"/>
                <a:cs typeface="Poppins SemiBold"/>
              </a:rPr>
              <a:t>Data &amp; AI Engineer</a:t>
            </a:r>
          </a:p>
          <a:p>
            <a:pPr marL="0" marR="0" lvl="0" indent="0" algn="l" defTabSz="914400"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US" sz="4000" b="1" i="0" u="none" strike="noStrike" kern="1200" cap="none" spc="0" normalizeH="0" baseline="0" noProof="0" dirty="0">
              <a:ln>
                <a:noFill/>
              </a:ln>
              <a:solidFill>
                <a:schemeClr val="tx1"/>
              </a:solidFill>
              <a:effectLst/>
              <a:uLnTx/>
              <a:uFillTx/>
              <a:latin typeface="Century Gothic" panose="020B0502020202020204" pitchFamily="34" charset="0"/>
              <a:ea typeface="Open Sans Semibold" panose="020B0706030804020204" pitchFamily="34" charset="0"/>
              <a:cs typeface="Poppins SemiBold"/>
            </a:endParaRPr>
          </a:p>
        </p:txBody>
      </p:sp>
    </p:spTree>
    <p:extLst>
      <p:ext uri="{BB962C8B-B14F-4D97-AF65-F5344CB8AC3E}">
        <p14:creationId xmlns:p14="http://schemas.microsoft.com/office/powerpoint/2010/main" val="2348592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9B2987-8AA5-58EE-88B9-29E14C15B72E}"/>
              </a:ext>
            </a:extLst>
          </p:cNvPr>
          <p:cNvSpPr txBox="1"/>
          <p:nvPr/>
        </p:nvSpPr>
        <p:spPr>
          <a:xfrm>
            <a:off x="662152" y="668458"/>
            <a:ext cx="7907983" cy="646331"/>
          </a:xfrm>
          <a:prstGeom prst="rect">
            <a:avLst/>
          </a:prstGeom>
          <a:noFill/>
        </p:spPr>
        <p:txBody>
          <a:bodyPr wrap="square" rtlCol="0">
            <a:spAutoFit/>
          </a:bodyPr>
          <a:lstStyle/>
          <a:p>
            <a:r>
              <a:rPr lang="en-US" sz="3600" b="1" dirty="0"/>
              <a:t>The Assignment</a:t>
            </a:r>
          </a:p>
        </p:txBody>
      </p:sp>
      <p:sp>
        <p:nvSpPr>
          <p:cNvPr id="5" name="TextBox 4">
            <a:extLst>
              <a:ext uri="{FF2B5EF4-FFF2-40B4-BE49-F238E27FC236}">
                <a16:creationId xmlns:a16="http://schemas.microsoft.com/office/drawing/2014/main" id="{F8EFC8CC-23DE-3CA5-32A8-5D69B5F324F1}"/>
              </a:ext>
            </a:extLst>
          </p:cNvPr>
          <p:cNvSpPr txBox="1"/>
          <p:nvPr/>
        </p:nvSpPr>
        <p:spPr>
          <a:xfrm>
            <a:off x="662152" y="1413372"/>
            <a:ext cx="6529223" cy="3512500"/>
          </a:xfrm>
          <a:prstGeom prst="rect">
            <a:avLst/>
          </a:prstGeom>
          <a:noFill/>
        </p:spPr>
        <p:txBody>
          <a:bodyPr wrap="square" lIns="91440" tIns="45720" rIns="91440" bIns="45720" anchor="t">
            <a:spAutoFit/>
          </a:bodyPr>
          <a:lstStyle/>
          <a:p>
            <a:r>
              <a:rPr lang="en-US" sz="1600" b="1" dirty="0">
                <a:solidFill>
                  <a:schemeClr val="bg2"/>
                </a:solidFill>
              </a:rPr>
              <a:t>Context</a:t>
            </a:r>
          </a:p>
          <a:p>
            <a:endParaRPr lang="en-US" sz="1100" dirty="0">
              <a:solidFill>
                <a:schemeClr val="bg2"/>
              </a:solidFill>
            </a:endParaRPr>
          </a:p>
          <a:p>
            <a:pPr>
              <a:lnSpc>
                <a:spcPct val="150000"/>
              </a:lnSpc>
              <a:defRPr/>
            </a:pPr>
            <a:r>
              <a:rPr lang="en-US" sz="1050" dirty="0">
                <a:solidFill>
                  <a:srgbClr val="192743"/>
                </a:solidFill>
                <a:latin typeface="Century Gothic" panose="020B0502020202020204" pitchFamily="34" charset="0"/>
                <a:ea typeface="Open Sans Light" panose="020B0306030504020204" pitchFamily="34" charset="0"/>
                <a:cs typeface="Poppins Medium"/>
              </a:rPr>
              <a:t>Effectory provides employee survey analytics and AI-driven insights to clients. We want to move beyond generic LLM outputs by embedding domain expertise and structured analysis into automated workflows. Your role involves building the infrastructure and flow that makes this possible - including data ingestion, model deployment, and operationalization.</a:t>
            </a:r>
          </a:p>
          <a:p>
            <a:pPr>
              <a:lnSpc>
                <a:spcPct val="150000"/>
              </a:lnSpc>
              <a:defRPr/>
            </a:pPr>
            <a:endParaRPr lang="en-US" sz="1050" dirty="0">
              <a:solidFill>
                <a:srgbClr val="192743"/>
              </a:solidFill>
              <a:latin typeface="Century Gothic" panose="020B0502020202020204" pitchFamily="34" charset="0"/>
              <a:ea typeface="Open Sans Light" panose="020B0306030504020204" pitchFamily="34" charset="0"/>
              <a:cs typeface="Poppins Medium"/>
            </a:endParaRPr>
          </a:p>
          <a:p>
            <a:pPr>
              <a:lnSpc>
                <a:spcPct val="150000"/>
              </a:lnSpc>
              <a:defRPr/>
            </a:pPr>
            <a:r>
              <a:rPr lang="en-US" sz="1600" b="1" dirty="0">
                <a:solidFill>
                  <a:schemeClr val="bg2"/>
                </a:solidFill>
              </a:rPr>
              <a:t>Scenario</a:t>
            </a:r>
          </a:p>
          <a:p>
            <a:pPr>
              <a:lnSpc>
                <a:spcPct val="150000"/>
              </a:lnSpc>
              <a:defRPr/>
            </a:pPr>
            <a:r>
              <a:rPr lang="en-US" sz="1050" dirty="0">
                <a:solidFill>
                  <a:srgbClr val="192743"/>
                </a:solidFill>
                <a:latin typeface="Century Gothic" panose="020B0502020202020204" pitchFamily="34" charset="0"/>
                <a:ea typeface="Open Sans Light" panose="020B0306030504020204" pitchFamily="34" charset="0"/>
                <a:cs typeface="Poppins Medium"/>
              </a:rPr>
              <a:t>You are given a sample survey dataset (structured Likert-scale responses and open-text answers).</a:t>
            </a:r>
          </a:p>
          <a:p>
            <a:pPr>
              <a:lnSpc>
                <a:spcPct val="150000"/>
              </a:lnSpc>
              <a:defRPr/>
            </a:pPr>
            <a:r>
              <a:rPr lang="en-US" sz="1050" dirty="0">
                <a:solidFill>
                  <a:srgbClr val="192743"/>
                </a:solidFill>
                <a:latin typeface="Century Gothic" panose="020B0502020202020204" pitchFamily="34" charset="0"/>
                <a:ea typeface="Open Sans Light" panose="020B0306030504020204" pitchFamily="34" charset="0"/>
                <a:cs typeface="Poppins Medium"/>
              </a:rPr>
              <a:t>Your task is to design and partially implement an </a:t>
            </a:r>
            <a:r>
              <a:rPr lang="en-US" sz="1050" dirty="0" err="1">
                <a:solidFill>
                  <a:srgbClr val="192743"/>
                </a:solidFill>
                <a:latin typeface="Century Gothic" panose="020B0502020202020204" pitchFamily="34" charset="0"/>
                <a:ea typeface="Open Sans Light" panose="020B0306030504020204" pitchFamily="34" charset="0"/>
                <a:cs typeface="Poppins Medium"/>
              </a:rPr>
              <a:t>MLOps</a:t>
            </a:r>
            <a:r>
              <a:rPr lang="en-US" sz="1050" dirty="0">
                <a:solidFill>
                  <a:srgbClr val="192743"/>
                </a:solidFill>
                <a:latin typeface="Century Gothic" panose="020B0502020202020204" pitchFamily="34" charset="0"/>
                <a:ea typeface="Open Sans Light" panose="020B0306030504020204" pitchFamily="34" charset="0"/>
                <a:cs typeface="Poppins Medium"/>
              </a:rPr>
              <a:t> pipeline that:</a:t>
            </a:r>
          </a:p>
          <a:p>
            <a:pPr marL="171450" indent="-171450">
              <a:lnSpc>
                <a:spcPct val="150000"/>
              </a:lnSpc>
              <a:buFont typeface="Arial" panose="020B0604020202020204" pitchFamily="34" charset="0"/>
              <a:buChar char="•"/>
              <a:defRPr/>
            </a:pPr>
            <a:r>
              <a:rPr lang="en-US" sz="1050" dirty="0">
                <a:solidFill>
                  <a:srgbClr val="192743"/>
                </a:solidFill>
                <a:latin typeface="Century Gothic" panose="020B0502020202020204" pitchFamily="34" charset="0"/>
                <a:ea typeface="Open Sans Light" panose="020B0306030504020204" pitchFamily="34" charset="0"/>
                <a:cs typeface="Poppins Medium"/>
              </a:rPr>
              <a:t>Ingests and processes survey data.</a:t>
            </a:r>
          </a:p>
          <a:p>
            <a:pPr marL="171450" indent="-171450">
              <a:lnSpc>
                <a:spcPct val="150000"/>
              </a:lnSpc>
              <a:buFont typeface="Arial" panose="020B0604020202020204" pitchFamily="34" charset="0"/>
              <a:buChar char="•"/>
              <a:defRPr/>
            </a:pPr>
            <a:r>
              <a:rPr lang="en-US" sz="1050" dirty="0">
                <a:solidFill>
                  <a:srgbClr val="192743"/>
                </a:solidFill>
                <a:latin typeface="Century Gothic" panose="020B0502020202020204" pitchFamily="34" charset="0"/>
                <a:ea typeface="Open Sans Light" panose="020B0306030504020204" pitchFamily="34" charset="0"/>
                <a:cs typeface="Poppins Medium"/>
              </a:rPr>
              <a:t>Deploys an endpoint that can return AI-generated insights and recommendations.</a:t>
            </a:r>
          </a:p>
          <a:p>
            <a:pPr marL="171450" indent="-171450">
              <a:lnSpc>
                <a:spcPct val="150000"/>
              </a:lnSpc>
              <a:buFont typeface="Arial" panose="020B0604020202020204" pitchFamily="34" charset="0"/>
              <a:buChar char="•"/>
              <a:defRPr/>
            </a:pPr>
            <a:r>
              <a:rPr lang="en-US" sz="1050" dirty="0">
                <a:solidFill>
                  <a:srgbClr val="192743"/>
                </a:solidFill>
                <a:latin typeface="Century Gothic" panose="020B0502020202020204" pitchFamily="34" charset="0"/>
                <a:ea typeface="Open Sans Light" panose="020B0306030504020204" pitchFamily="34" charset="0"/>
                <a:cs typeface="Poppins Medium"/>
              </a:rPr>
              <a:t>Demonstrates how your approach would incorporate domain knowledge and structured data to produce outputs that are more relevant and actionable than a generic ChatGPT response.</a:t>
            </a:r>
            <a:endParaRPr lang="nl-NL" sz="1050" dirty="0">
              <a:solidFill>
                <a:srgbClr val="192743"/>
              </a:solidFill>
              <a:latin typeface="Century Gothic" panose="020B0502020202020204" pitchFamily="34" charset="0"/>
              <a:ea typeface="Open Sans Light" panose="020B0306030504020204" pitchFamily="34" charset="0"/>
              <a:cs typeface="Poppins Medium"/>
            </a:endParaRPr>
          </a:p>
        </p:txBody>
      </p:sp>
      <p:sp>
        <p:nvSpPr>
          <p:cNvPr id="8" name="Rectangle 7">
            <a:extLst>
              <a:ext uri="{FF2B5EF4-FFF2-40B4-BE49-F238E27FC236}">
                <a16:creationId xmlns:a16="http://schemas.microsoft.com/office/drawing/2014/main" id="{701E2D76-1141-5BA6-75A4-6727D13F5D44}"/>
              </a:ext>
            </a:extLst>
          </p:cNvPr>
          <p:cNvSpPr/>
          <p:nvPr/>
        </p:nvSpPr>
        <p:spPr>
          <a:xfrm>
            <a:off x="7699879" y="0"/>
            <a:ext cx="449212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defRPr/>
            </a:pPr>
            <a:endParaRPr lang="en-US" sz="1100" dirty="0">
              <a:solidFill>
                <a:schemeClr val="tx1"/>
              </a:solidFill>
              <a:latin typeface="Century Gothic"/>
              <a:ea typeface="Open Sans Light"/>
              <a:cs typeface="Poppins Medium"/>
            </a:endParaRPr>
          </a:p>
        </p:txBody>
      </p:sp>
      <p:sp>
        <p:nvSpPr>
          <p:cNvPr id="10" name="TextBox 9">
            <a:extLst>
              <a:ext uri="{FF2B5EF4-FFF2-40B4-BE49-F238E27FC236}">
                <a16:creationId xmlns:a16="http://schemas.microsoft.com/office/drawing/2014/main" id="{0272E46F-ABDB-7A50-22B8-9CADC698B024}"/>
              </a:ext>
            </a:extLst>
          </p:cNvPr>
          <p:cNvSpPr txBox="1"/>
          <p:nvPr/>
        </p:nvSpPr>
        <p:spPr>
          <a:xfrm>
            <a:off x="7850400" y="2720377"/>
            <a:ext cx="4144492" cy="369332"/>
          </a:xfrm>
          <a:prstGeom prst="rect">
            <a:avLst/>
          </a:prstGeom>
          <a:noFill/>
        </p:spPr>
        <p:txBody>
          <a:bodyPr wrap="square">
            <a:spAutoFit/>
          </a:bodyPr>
          <a:lstStyle/>
          <a:p>
            <a:r>
              <a:rPr lang="en-US" b="1" dirty="0">
                <a:solidFill>
                  <a:schemeClr val="bg1"/>
                </a:solidFill>
              </a:rPr>
              <a:t>Effectory’s vision</a:t>
            </a:r>
          </a:p>
        </p:txBody>
      </p:sp>
      <p:sp>
        <p:nvSpPr>
          <p:cNvPr id="4" name="TextBox 3">
            <a:extLst>
              <a:ext uri="{FF2B5EF4-FFF2-40B4-BE49-F238E27FC236}">
                <a16:creationId xmlns:a16="http://schemas.microsoft.com/office/drawing/2014/main" id="{0DE5D460-0CFE-26C3-4499-126414AE5F1A}"/>
              </a:ext>
            </a:extLst>
          </p:cNvPr>
          <p:cNvSpPr txBox="1"/>
          <p:nvPr/>
        </p:nvSpPr>
        <p:spPr>
          <a:xfrm>
            <a:off x="7873693" y="3030624"/>
            <a:ext cx="4144492" cy="3210046"/>
          </a:xfrm>
          <a:prstGeom prst="rect">
            <a:avLst/>
          </a:prstGeom>
          <a:noFill/>
        </p:spPr>
        <p:txBody>
          <a:bodyPr wrap="square">
            <a:spAutoFit/>
          </a:bodyPr>
          <a:lstStyle/>
          <a:p>
            <a:pPr>
              <a:lnSpc>
                <a:spcPts val="1500"/>
              </a:lnSpc>
              <a:defRPr/>
            </a:pPr>
            <a:r>
              <a:rPr lang="en-US" sz="1000" b="1" dirty="0">
                <a:solidFill>
                  <a:schemeClr val="tx1"/>
                </a:solidFill>
                <a:latin typeface="Century Gothic"/>
                <a:ea typeface="Open Sans Light"/>
                <a:cs typeface="Poppins Medium"/>
              </a:rPr>
              <a:t>A working world where every voice matters, and every organization thrives.​</a:t>
            </a:r>
          </a:p>
          <a:p>
            <a:pPr>
              <a:lnSpc>
                <a:spcPts val="1500"/>
              </a:lnSpc>
              <a:defRPr/>
            </a:pPr>
            <a:r>
              <a:rPr lang="en-US" sz="1000" dirty="0">
                <a:latin typeface="Century Gothic"/>
                <a:ea typeface="+mn-lt"/>
                <a:cs typeface="+mn-lt"/>
              </a:rPr>
              <a:t>We envision a world where every workplace recognizes that the true strength of their organization lies in their people, actively</a:t>
            </a:r>
          </a:p>
          <a:p>
            <a:pPr>
              <a:lnSpc>
                <a:spcPts val="1500"/>
              </a:lnSpc>
              <a:defRPr/>
            </a:pPr>
            <a:r>
              <a:rPr lang="en-US" sz="1000" dirty="0">
                <a:latin typeface="Century Gothic"/>
                <a:ea typeface="+mn-lt"/>
                <a:cs typeface="+mn-lt"/>
              </a:rPr>
              <a:t>seeking their ideas and opinions to create better employee experiences and drive organizational success.​</a:t>
            </a:r>
          </a:p>
          <a:p>
            <a:pPr>
              <a:lnSpc>
                <a:spcPct val="150000"/>
              </a:lnSpc>
              <a:defRPr/>
            </a:pPr>
            <a:r>
              <a:rPr lang="en-US" b="1" dirty="0">
                <a:solidFill>
                  <a:schemeClr val="bg1"/>
                </a:solidFill>
                <a:latin typeface="Century Gothic"/>
                <a:ea typeface="+mn-lt"/>
                <a:cs typeface="+mn-lt"/>
              </a:rPr>
              <a:t>Our mission</a:t>
            </a:r>
            <a:endParaRPr lang="en-US" dirty="0">
              <a:latin typeface="Century Gothic"/>
              <a:ea typeface="+mn-lt"/>
              <a:cs typeface="+mn-lt"/>
            </a:endParaRPr>
          </a:p>
          <a:p>
            <a:pPr marL="0" marR="0" lvl="0" indent="0" algn="l" defTabSz="914400" rtl="0" eaLnBrk="1" fontAlgn="auto" latinLnBrk="0" hangingPunct="1">
              <a:lnSpc>
                <a:spcPts val="1500"/>
              </a:lnSpc>
              <a:spcBef>
                <a:spcPts val="0"/>
              </a:spcBef>
              <a:spcAft>
                <a:spcPts val="0"/>
              </a:spcAft>
              <a:buClrTx/>
              <a:buSzTx/>
              <a:buFontTx/>
              <a:buNone/>
              <a:tabLst/>
              <a:defRPr/>
            </a:pPr>
            <a:r>
              <a:rPr lang="en-US" sz="1000" b="1" dirty="0">
                <a:solidFill>
                  <a:schemeClr val="tx1"/>
                </a:solidFill>
                <a:latin typeface="Century Gothic"/>
                <a:ea typeface="+mn-lt"/>
                <a:cs typeface="+mn-lt"/>
              </a:rPr>
              <a:t>To build meaningful organizations with the voice of every employee.</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i="0" u="none" strike="noStrike" kern="1200" cap="none" spc="0" normalizeH="0" baseline="0" noProof="0" dirty="0">
                <a:ln>
                  <a:noFill/>
                </a:ln>
                <a:effectLst/>
                <a:uLnTx/>
                <a:uFillTx/>
                <a:latin typeface="Century Gothic" panose="020F0302020204030204"/>
              </a:rPr>
              <a:t>We empower organizations to truly understand their people, ensuring they feel heard and supported. Through actionable insights and expert guidance, we help create workplaces where engagement and productivity thrive, driving success for both people and organizations.</a:t>
            </a:r>
          </a:p>
          <a:p>
            <a:pPr>
              <a:lnSpc>
                <a:spcPct val="150000"/>
              </a:lnSpc>
              <a:defRPr/>
            </a:pPr>
            <a:r>
              <a:rPr lang="en-US" sz="1000" dirty="0">
                <a:solidFill>
                  <a:schemeClr val="tx1"/>
                </a:solidFill>
                <a:latin typeface="Century Gothic"/>
                <a:ea typeface="Open Sans Light"/>
                <a:cs typeface="Poppins Medium"/>
              </a:rPr>
              <a:t> </a:t>
            </a:r>
          </a:p>
        </p:txBody>
      </p:sp>
      <p:pic>
        <p:nvPicPr>
          <p:cNvPr id="9" name="Picture 8">
            <a:extLst>
              <a:ext uri="{FF2B5EF4-FFF2-40B4-BE49-F238E27FC236}">
                <a16:creationId xmlns:a16="http://schemas.microsoft.com/office/drawing/2014/main" id="{D2B22A2B-AC42-F5E4-48FE-1C2964999C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81682" y="6189542"/>
            <a:ext cx="2928514" cy="279967"/>
          </a:xfrm>
          <a:prstGeom prst="rect">
            <a:avLst/>
          </a:prstGeom>
        </p:spPr>
      </p:pic>
      <p:sp>
        <p:nvSpPr>
          <p:cNvPr id="6" name="TextBox 5">
            <a:extLst>
              <a:ext uri="{FF2B5EF4-FFF2-40B4-BE49-F238E27FC236}">
                <a16:creationId xmlns:a16="http://schemas.microsoft.com/office/drawing/2014/main" id="{A7F0E912-F3BB-B213-4C5C-A308B5C0C0BE}"/>
              </a:ext>
            </a:extLst>
          </p:cNvPr>
          <p:cNvSpPr txBox="1"/>
          <p:nvPr/>
        </p:nvSpPr>
        <p:spPr>
          <a:xfrm>
            <a:off x="7873693" y="886635"/>
            <a:ext cx="4191225" cy="1892826"/>
          </a:xfrm>
          <a:prstGeom prst="rect">
            <a:avLst/>
          </a:prstGeom>
          <a:noFill/>
        </p:spPr>
        <p:txBody>
          <a:bodyPr wrap="square" lIns="91440" tIns="45720" rIns="91440" bIns="45720" rtlCol="0" anchor="t">
            <a:spAutoFit/>
          </a:bodyPr>
          <a:lstStyle/>
          <a:p>
            <a:r>
              <a:rPr lang="en-US" sz="900" b="1" dirty="0">
                <a:solidFill>
                  <a:srgbClr val="192743"/>
                </a:solidFill>
                <a:ea typeface="+mn-lt"/>
                <a:cs typeface="+mn-lt"/>
              </a:rPr>
              <a:t>A few days before the case</a:t>
            </a:r>
            <a:br>
              <a:rPr lang="en-US" sz="900" dirty="0"/>
            </a:br>
            <a:r>
              <a:rPr lang="en-US" sz="900" dirty="0">
                <a:solidFill>
                  <a:srgbClr val="192743"/>
                </a:solidFill>
              </a:rPr>
              <a:t>- You receive the briefing from Effectory</a:t>
            </a:r>
          </a:p>
          <a:p>
            <a:r>
              <a:rPr lang="en-US" sz="900" dirty="0">
                <a:solidFill>
                  <a:srgbClr val="192743"/>
                </a:solidFill>
              </a:rPr>
              <a:t>- You read up on the case and prepare solution</a:t>
            </a:r>
          </a:p>
          <a:p>
            <a:endParaRPr lang="en-US" sz="900" dirty="0">
              <a:solidFill>
                <a:srgbClr val="192743"/>
              </a:solidFill>
            </a:endParaRPr>
          </a:p>
          <a:p>
            <a:r>
              <a:rPr lang="en-US" sz="900" b="1" dirty="0">
                <a:solidFill>
                  <a:srgbClr val="192743"/>
                </a:solidFill>
              </a:rPr>
              <a:t>The day before the case (24h in advance)</a:t>
            </a:r>
          </a:p>
          <a:p>
            <a:r>
              <a:rPr lang="en-US" sz="900" dirty="0">
                <a:solidFill>
                  <a:srgbClr val="192743"/>
                </a:solidFill>
              </a:rPr>
              <a:t>- You provide your notebook for review</a:t>
            </a:r>
          </a:p>
          <a:p>
            <a:br>
              <a:rPr lang="en-US" sz="900" dirty="0"/>
            </a:br>
            <a:r>
              <a:rPr lang="en-US" sz="900" b="1" dirty="0">
                <a:solidFill>
                  <a:srgbClr val="192743"/>
                </a:solidFill>
              </a:rPr>
              <a:t>On the day of the case </a:t>
            </a:r>
          </a:p>
          <a:p>
            <a:r>
              <a:rPr lang="en-US" sz="900" dirty="0">
                <a:solidFill>
                  <a:srgbClr val="192743"/>
                </a:solidFill>
              </a:rPr>
              <a:t>10 mins | You get to prepare the room </a:t>
            </a:r>
          </a:p>
          <a:p>
            <a:r>
              <a:rPr lang="en-US" sz="900" dirty="0">
                <a:solidFill>
                  <a:srgbClr val="192743"/>
                </a:solidFill>
              </a:rPr>
              <a:t>40 mins | You present your solutions + we ask questions</a:t>
            </a:r>
            <a:endParaRPr lang="en-US" dirty="0"/>
          </a:p>
          <a:p>
            <a:r>
              <a:rPr lang="en-US" sz="900" dirty="0">
                <a:solidFill>
                  <a:srgbClr val="192743"/>
                </a:solidFill>
              </a:rPr>
              <a:t>25 mins | We discuss possible solutions to the discussion questions </a:t>
            </a:r>
          </a:p>
          <a:p>
            <a:r>
              <a:rPr lang="en-US" sz="900" dirty="0">
                <a:solidFill>
                  <a:srgbClr val="192743"/>
                </a:solidFill>
              </a:rPr>
              <a:t>5 mins   | We give each other feedback</a:t>
            </a:r>
          </a:p>
          <a:p>
            <a:endParaRPr lang="en-US" sz="900" dirty="0">
              <a:solidFill>
                <a:schemeClr val="tx2"/>
              </a:solidFill>
            </a:endParaRPr>
          </a:p>
        </p:txBody>
      </p:sp>
      <p:sp>
        <p:nvSpPr>
          <p:cNvPr id="12" name="TextBox 11">
            <a:extLst>
              <a:ext uri="{FF2B5EF4-FFF2-40B4-BE49-F238E27FC236}">
                <a16:creationId xmlns:a16="http://schemas.microsoft.com/office/drawing/2014/main" id="{F72604C1-6933-D622-0346-DFCD05083AA8}"/>
              </a:ext>
            </a:extLst>
          </p:cNvPr>
          <p:cNvSpPr txBox="1"/>
          <p:nvPr/>
        </p:nvSpPr>
        <p:spPr>
          <a:xfrm>
            <a:off x="7850400" y="583914"/>
            <a:ext cx="4144492" cy="369332"/>
          </a:xfrm>
          <a:prstGeom prst="rect">
            <a:avLst/>
          </a:prstGeom>
          <a:noFill/>
        </p:spPr>
        <p:txBody>
          <a:bodyPr wrap="square" lIns="91440" tIns="45720" rIns="91440" bIns="45720" anchor="t">
            <a:spAutoFit/>
          </a:bodyPr>
          <a:lstStyle/>
          <a:p>
            <a:r>
              <a:rPr lang="en-US" b="1" dirty="0">
                <a:solidFill>
                  <a:schemeClr val="bg1"/>
                </a:solidFill>
              </a:rPr>
              <a:t>Timeline </a:t>
            </a:r>
            <a:endParaRPr lang="en-US" dirty="0">
              <a:solidFill>
                <a:schemeClr val="bg1"/>
              </a:solidFill>
            </a:endParaRPr>
          </a:p>
        </p:txBody>
      </p:sp>
    </p:spTree>
    <p:extLst>
      <p:ext uri="{BB962C8B-B14F-4D97-AF65-F5344CB8AC3E}">
        <p14:creationId xmlns:p14="http://schemas.microsoft.com/office/powerpoint/2010/main" val="454555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9B2987-8AA5-58EE-88B9-29E14C15B72E}"/>
              </a:ext>
            </a:extLst>
          </p:cNvPr>
          <p:cNvSpPr txBox="1"/>
          <p:nvPr/>
        </p:nvSpPr>
        <p:spPr>
          <a:xfrm>
            <a:off x="662152" y="668458"/>
            <a:ext cx="7907983" cy="414088"/>
          </a:xfrm>
          <a:prstGeom prst="rect">
            <a:avLst/>
          </a:prstGeom>
          <a:noFill/>
        </p:spPr>
        <p:txBody>
          <a:bodyPr wrap="square" rtlCol="0">
            <a:spAutoFit/>
          </a:bodyPr>
          <a:lstStyle/>
          <a:p>
            <a:pPr>
              <a:lnSpc>
                <a:spcPct val="150000"/>
              </a:lnSpc>
              <a:defRPr/>
            </a:pPr>
            <a:r>
              <a:rPr lang="nl-NL" sz="1600" b="1" dirty="0" err="1">
                <a:solidFill>
                  <a:schemeClr val="bg2"/>
                </a:solidFill>
              </a:rPr>
              <a:t>What</a:t>
            </a:r>
            <a:r>
              <a:rPr lang="nl-NL" sz="1600" b="1" dirty="0">
                <a:solidFill>
                  <a:schemeClr val="bg2"/>
                </a:solidFill>
              </a:rPr>
              <a:t> is </a:t>
            </a:r>
            <a:r>
              <a:rPr lang="nl-NL" sz="1600" b="1" dirty="0" err="1">
                <a:solidFill>
                  <a:schemeClr val="bg2"/>
                </a:solidFill>
              </a:rPr>
              <a:t>expected</a:t>
            </a:r>
            <a:r>
              <a:rPr lang="nl-NL" sz="1600" b="1" dirty="0">
                <a:solidFill>
                  <a:schemeClr val="bg2"/>
                </a:solidFill>
              </a:rPr>
              <a:t> of </a:t>
            </a:r>
            <a:r>
              <a:rPr lang="nl-NL" sz="1600" b="1" dirty="0" err="1">
                <a:solidFill>
                  <a:schemeClr val="bg2"/>
                </a:solidFill>
              </a:rPr>
              <a:t>you</a:t>
            </a:r>
            <a:endParaRPr lang="nl-NL" sz="1600" b="1" dirty="0">
              <a:solidFill>
                <a:schemeClr val="bg2"/>
              </a:solidFill>
            </a:endParaRPr>
          </a:p>
        </p:txBody>
      </p:sp>
      <p:sp>
        <p:nvSpPr>
          <p:cNvPr id="5" name="TextBox 4">
            <a:extLst>
              <a:ext uri="{FF2B5EF4-FFF2-40B4-BE49-F238E27FC236}">
                <a16:creationId xmlns:a16="http://schemas.microsoft.com/office/drawing/2014/main" id="{F8EFC8CC-23DE-3CA5-32A8-5D69B5F324F1}"/>
              </a:ext>
            </a:extLst>
          </p:cNvPr>
          <p:cNvSpPr txBox="1"/>
          <p:nvPr/>
        </p:nvSpPr>
        <p:spPr>
          <a:xfrm>
            <a:off x="662152" y="1355223"/>
            <a:ext cx="6453024" cy="4743799"/>
          </a:xfrm>
          <a:prstGeom prst="rect">
            <a:avLst/>
          </a:prstGeom>
          <a:noFill/>
        </p:spPr>
        <p:txBody>
          <a:bodyPr wrap="square">
            <a:spAutoFit/>
          </a:bodyPr>
          <a:lstStyle/>
          <a:p>
            <a:pPr marL="228600" indent="-228600">
              <a:lnSpc>
                <a:spcPts val="1400"/>
              </a:lnSpc>
              <a:buFont typeface="+mj-lt"/>
              <a:buAutoNum type="arabicPeriod"/>
            </a:pPr>
            <a:r>
              <a:rPr lang="en-US" sz="1000" b="1" dirty="0">
                <a:effectLst/>
                <a:latin typeface="+mj-lt"/>
                <a:ea typeface="Calibri" panose="020F0502020204030204" pitchFamily="34" charset="0"/>
                <a:cs typeface="Times New Roman" panose="02020603050405020304" pitchFamily="18" charset="0"/>
              </a:rPr>
              <a:t>Pipeline Design</a:t>
            </a:r>
          </a:p>
          <a:p>
            <a:pPr marL="685800" lvl="1" indent="-228600">
              <a:lnSpc>
                <a:spcPts val="1400"/>
              </a:lnSpc>
              <a:buFont typeface="Arial" panose="020B0604020202020204" pitchFamily="34" charset="0"/>
              <a:buChar char="•"/>
            </a:pPr>
            <a:r>
              <a:rPr lang="en-US" sz="1000" dirty="0">
                <a:effectLst/>
                <a:latin typeface="+mj-lt"/>
                <a:ea typeface="Calibri" panose="020F0502020204030204" pitchFamily="34" charset="0"/>
                <a:cs typeface="Times New Roman" panose="02020603050405020304" pitchFamily="18" charset="0"/>
              </a:rPr>
              <a:t>Outline the architecture for an end-to-end flow:</a:t>
            </a:r>
          </a:p>
          <a:p>
            <a:pPr marL="1143000" lvl="2" indent="-228600">
              <a:lnSpc>
                <a:spcPts val="1400"/>
              </a:lnSpc>
              <a:buFont typeface="Arial" panose="020B0604020202020204" pitchFamily="34" charset="0"/>
              <a:buChar char="•"/>
            </a:pPr>
            <a:r>
              <a:rPr lang="en-US" sz="1000" dirty="0">
                <a:effectLst/>
                <a:latin typeface="+mj-lt"/>
                <a:ea typeface="Calibri" panose="020F0502020204030204" pitchFamily="34" charset="0"/>
                <a:cs typeface="Times New Roman" panose="02020603050405020304" pitchFamily="18" charset="0"/>
              </a:rPr>
              <a:t>Data ingestion and preprocessing.</a:t>
            </a:r>
          </a:p>
          <a:p>
            <a:pPr marL="1143000" lvl="2" indent="-228600">
              <a:lnSpc>
                <a:spcPts val="1400"/>
              </a:lnSpc>
              <a:buFont typeface="Arial" panose="020B0604020202020204" pitchFamily="34" charset="0"/>
              <a:buChar char="•"/>
            </a:pPr>
            <a:r>
              <a:rPr lang="en-US" sz="1000" dirty="0">
                <a:effectLst/>
                <a:latin typeface="+mj-lt"/>
                <a:ea typeface="Calibri" panose="020F0502020204030204" pitchFamily="34" charset="0"/>
                <a:cs typeface="Times New Roman" panose="02020603050405020304" pitchFamily="18" charset="0"/>
              </a:rPr>
              <a:t>Model or analysis component (can be rule-based, ML, or hybrid).</a:t>
            </a:r>
          </a:p>
          <a:p>
            <a:pPr marL="1143000" lvl="2" indent="-228600">
              <a:lnSpc>
                <a:spcPts val="1400"/>
              </a:lnSpc>
              <a:buFont typeface="Arial" panose="020B0604020202020204" pitchFamily="34" charset="0"/>
              <a:buChar char="•"/>
            </a:pPr>
            <a:r>
              <a:rPr lang="en-US" sz="1000" dirty="0">
                <a:effectLst/>
                <a:latin typeface="+mj-lt"/>
                <a:ea typeface="Calibri" panose="020F0502020204030204" pitchFamily="34" charset="0"/>
                <a:cs typeface="Times New Roman" panose="02020603050405020304" pitchFamily="18" charset="0"/>
              </a:rPr>
              <a:t>Endpoint for serving results.</a:t>
            </a:r>
          </a:p>
          <a:p>
            <a:pPr marL="685800" lvl="1" indent="-228600">
              <a:lnSpc>
                <a:spcPts val="1400"/>
              </a:lnSpc>
              <a:buFont typeface="Arial" panose="020B0604020202020204" pitchFamily="34" charset="0"/>
              <a:buChar char="•"/>
            </a:pPr>
            <a:r>
              <a:rPr lang="en-US" sz="1000" dirty="0">
                <a:effectLst/>
                <a:latin typeface="+mj-lt"/>
                <a:ea typeface="Calibri" panose="020F0502020204030204" pitchFamily="34" charset="0"/>
                <a:cs typeface="Times New Roman" panose="02020603050405020304" pitchFamily="18" charset="0"/>
              </a:rPr>
              <a:t>Include a diagram or pseudocode for the orchestration.</a:t>
            </a:r>
          </a:p>
          <a:p>
            <a:pPr marL="228600" indent="-228600">
              <a:lnSpc>
                <a:spcPts val="1400"/>
              </a:lnSpc>
              <a:buFont typeface="+mj-lt"/>
              <a:buAutoNum type="arabicPeriod"/>
            </a:pPr>
            <a:r>
              <a:rPr lang="en-US" sz="1000" b="1" dirty="0">
                <a:effectLst/>
                <a:latin typeface="+mj-lt"/>
                <a:ea typeface="Calibri" panose="020F0502020204030204" pitchFamily="34" charset="0"/>
                <a:cs typeface="Times New Roman" panose="02020603050405020304" pitchFamily="18" charset="0"/>
              </a:rPr>
              <a:t>Implementation</a:t>
            </a:r>
          </a:p>
          <a:p>
            <a:pPr marL="685800" lvl="1" indent="-228600">
              <a:lnSpc>
                <a:spcPts val="1400"/>
              </a:lnSpc>
              <a:buFont typeface="Arial" panose="020B0604020202020204" pitchFamily="34" charset="0"/>
              <a:buChar char="•"/>
            </a:pPr>
            <a:r>
              <a:rPr lang="en-US" sz="1000" dirty="0">
                <a:effectLst/>
                <a:latin typeface="+mj-lt"/>
                <a:ea typeface="Calibri" panose="020F0502020204030204" pitchFamily="34" charset="0"/>
                <a:cs typeface="Times New Roman" panose="02020603050405020304" pitchFamily="18" charset="0"/>
              </a:rPr>
              <a:t>In your notebook, implement at least one part of the pipeline (e.g., data cleaning, feature engineering, or a simple model).</a:t>
            </a:r>
          </a:p>
          <a:p>
            <a:pPr marL="685800" lvl="1" indent="-228600">
              <a:lnSpc>
                <a:spcPts val="1400"/>
              </a:lnSpc>
              <a:buFont typeface="Arial" panose="020B0604020202020204" pitchFamily="34" charset="0"/>
              <a:buChar char="•"/>
            </a:pPr>
            <a:r>
              <a:rPr lang="en-US" sz="1000" dirty="0">
                <a:effectLst/>
                <a:latin typeface="+mj-lt"/>
                <a:ea typeface="Calibri" panose="020F0502020204030204" pitchFamily="34" charset="0"/>
                <a:cs typeface="Times New Roman" panose="02020603050405020304" pitchFamily="18" charset="0"/>
              </a:rPr>
              <a:t>Show how you would expose an endpoint for delivering insights.</a:t>
            </a:r>
          </a:p>
          <a:p>
            <a:pPr marL="228600" indent="-228600">
              <a:lnSpc>
                <a:spcPts val="1400"/>
              </a:lnSpc>
              <a:buFont typeface="+mj-lt"/>
              <a:buAutoNum type="arabicPeriod"/>
            </a:pPr>
            <a:r>
              <a:rPr lang="en-US" sz="1000" b="1" dirty="0">
                <a:effectLst/>
                <a:latin typeface="+mj-lt"/>
                <a:ea typeface="Calibri" panose="020F0502020204030204" pitchFamily="34" charset="0"/>
                <a:cs typeface="Times New Roman" panose="02020603050405020304" pitchFamily="18" charset="0"/>
              </a:rPr>
              <a:t>Domain Expertise</a:t>
            </a:r>
          </a:p>
          <a:p>
            <a:pPr marL="685800" lvl="1" indent="-228600">
              <a:lnSpc>
                <a:spcPts val="1400"/>
              </a:lnSpc>
              <a:buFont typeface="Arial" panose="020B0604020202020204" pitchFamily="34" charset="0"/>
              <a:buChar char="•"/>
            </a:pPr>
            <a:r>
              <a:rPr lang="en-US" sz="1000" dirty="0">
                <a:effectLst/>
                <a:latin typeface="+mj-lt"/>
                <a:ea typeface="Calibri" panose="020F0502020204030204" pitchFamily="34" charset="0"/>
                <a:cs typeface="Times New Roman" panose="02020603050405020304" pitchFamily="18" charset="0"/>
              </a:rPr>
              <a:t>Explain how your solution would incorporate HR-specific logic (themes, retention factors, engagement metrics) alongside AI techniques.</a:t>
            </a:r>
          </a:p>
          <a:p>
            <a:pPr marL="685800" lvl="1" indent="-228600">
              <a:lnSpc>
                <a:spcPts val="1400"/>
              </a:lnSpc>
              <a:buFont typeface="Arial" panose="020B0604020202020204" pitchFamily="34" charset="0"/>
              <a:buChar char="•"/>
            </a:pPr>
            <a:r>
              <a:rPr lang="en-US" sz="1000" dirty="0">
                <a:effectLst/>
                <a:latin typeface="+mj-lt"/>
                <a:ea typeface="Calibri" panose="020F0502020204030204" pitchFamily="34" charset="0"/>
                <a:cs typeface="Times New Roman" panose="02020603050405020304" pitchFamily="18" charset="0"/>
              </a:rPr>
              <a:t>Suggest methods for combining structured and unstructured data.</a:t>
            </a:r>
          </a:p>
          <a:p>
            <a:pPr marL="228600" indent="-228600">
              <a:lnSpc>
                <a:spcPts val="1400"/>
              </a:lnSpc>
              <a:buFont typeface="+mj-lt"/>
              <a:buAutoNum type="arabicPeriod"/>
            </a:pPr>
            <a:r>
              <a:rPr lang="en-US" sz="1000" b="1" dirty="0">
                <a:effectLst/>
                <a:latin typeface="+mj-lt"/>
                <a:ea typeface="Calibri" panose="020F0502020204030204" pitchFamily="34" charset="0"/>
                <a:cs typeface="Times New Roman" panose="02020603050405020304" pitchFamily="18" charset="0"/>
              </a:rPr>
              <a:t>Beyond ChatGPT</a:t>
            </a:r>
          </a:p>
          <a:p>
            <a:pPr marL="685800" lvl="1" indent="-228600">
              <a:lnSpc>
                <a:spcPts val="1400"/>
              </a:lnSpc>
              <a:buFont typeface="Arial" panose="020B0604020202020204" pitchFamily="34" charset="0"/>
              <a:buChar char="•"/>
            </a:pPr>
            <a:r>
              <a:rPr lang="en-US" sz="1000" dirty="0">
                <a:effectLst/>
                <a:latin typeface="+mj-lt"/>
                <a:ea typeface="Calibri" panose="020F0502020204030204" pitchFamily="34" charset="0"/>
                <a:cs typeface="Times New Roman" panose="02020603050405020304" pitchFamily="18" charset="0"/>
              </a:rPr>
              <a:t>Describe how your approach would outperform a generic ChatGPT analysis, including advanced techniques that you would use</a:t>
            </a:r>
          </a:p>
          <a:p>
            <a:pPr>
              <a:lnSpc>
                <a:spcPts val="1400"/>
              </a:lnSpc>
            </a:pPr>
            <a:endParaRPr lang="en-US" sz="1000" dirty="0">
              <a:latin typeface="+mj-lt"/>
              <a:ea typeface="Calibri" panose="020F0502020204030204" pitchFamily="34" charset="0"/>
              <a:cs typeface="Times New Roman" panose="02020603050405020304" pitchFamily="18" charset="0"/>
            </a:endParaRPr>
          </a:p>
          <a:p>
            <a:pPr>
              <a:lnSpc>
                <a:spcPts val="1400"/>
              </a:lnSpc>
            </a:pPr>
            <a:r>
              <a:rPr lang="en-US" sz="1000" b="1" dirty="0">
                <a:latin typeface="+mj-lt"/>
                <a:ea typeface="Calibri" panose="020F0502020204030204" pitchFamily="34" charset="0"/>
                <a:cs typeface="Times New Roman" panose="02020603050405020304" pitchFamily="18" charset="0"/>
              </a:rPr>
              <a:t>Deliverables</a:t>
            </a:r>
          </a:p>
          <a:p>
            <a:pPr marL="171450" indent="-171450">
              <a:lnSpc>
                <a:spcPts val="1400"/>
              </a:lnSpc>
              <a:buFont typeface="Arial" panose="020B0604020202020204" pitchFamily="34" charset="0"/>
              <a:buChar char="•"/>
            </a:pPr>
            <a:r>
              <a:rPr lang="en-US" sz="1000" dirty="0">
                <a:latin typeface="+mj-lt"/>
                <a:ea typeface="Calibri" panose="020F0502020204030204" pitchFamily="34" charset="0"/>
                <a:cs typeface="Times New Roman" panose="02020603050405020304" pitchFamily="18" charset="0"/>
              </a:rPr>
              <a:t>A </a:t>
            </a:r>
            <a:r>
              <a:rPr lang="en-US" sz="1000" dirty="0" err="1">
                <a:latin typeface="+mj-lt"/>
                <a:ea typeface="Calibri" panose="020F0502020204030204" pitchFamily="34" charset="0"/>
                <a:cs typeface="Times New Roman" panose="02020603050405020304" pitchFamily="18" charset="0"/>
              </a:rPr>
              <a:t>Jupyter</a:t>
            </a:r>
            <a:r>
              <a:rPr lang="en-US" sz="1000" dirty="0">
                <a:latin typeface="+mj-lt"/>
                <a:ea typeface="Calibri" panose="020F0502020204030204" pitchFamily="34" charset="0"/>
                <a:cs typeface="Times New Roman" panose="02020603050405020304" pitchFamily="18" charset="0"/>
              </a:rPr>
              <a:t> Notebook with:</a:t>
            </a:r>
          </a:p>
          <a:p>
            <a:pPr marL="628650" lvl="1" indent="-171450">
              <a:lnSpc>
                <a:spcPts val="1400"/>
              </a:lnSpc>
              <a:buFont typeface="Arial" panose="020B0604020202020204" pitchFamily="34" charset="0"/>
              <a:buChar char="•"/>
            </a:pPr>
            <a:r>
              <a:rPr lang="en-US" sz="1000" dirty="0">
                <a:latin typeface="+mj-lt"/>
                <a:ea typeface="Calibri" panose="020F0502020204030204" pitchFamily="34" charset="0"/>
                <a:cs typeface="Times New Roman" panose="02020603050405020304" pitchFamily="18" charset="0"/>
              </a:rPr>
              <a:t>One or two implemented steps (data prep, simple model, or endpoint mock-up).</a:t>
            </a:r>
          </a:p>
          <a:p>
            <a:pPr marL="628650" lvl="1" indent="-171450">
              <a:lnSpc>
                <a:spcPts val="1400"/>
              </a:lnSpc>
              <a:buFont typeface="Arial" panose="020B0604020202020204" pitchFamily="34" charset="0"/>
              <a:buChar char="•"/>
            </a:pPr>
            <a:r>
              <a:rPr lang="en-US" sz="1000" dirty="0">
                <a:latin typeface="+mj-lt"/>
                <a:ea typeface="Calibri" panose="020F0502020204030204" pitchFamily="34" charset="0"/>
                <a:cs typeface="Times New Roman" panose="02020603050405020304" pitchFamily="18" charset="0"/>
              </a:rPr>
              <a:t>Clear documentation of your approach.</a:t>
            </a:r>
          </a:p>
          <a:p>
            <a:pPr marL="171450" indent="-171450">
              <a:lnSpc>
                <a:spcPts val="1400"/>
              </a:lnSpc>
              <a:buFont typeface="Arial" panose="020B0604020202020204" pitchFamily="34" charset="0"/>
              <a:buChar char="•"/>
            </a:pPr>
            <a:r>
              <a:rPr lang="en-US" sz="1000" dirty="0">
                <a:latin typeface="+mj-lt"/>
                <a:ea typeface="Calibri" panose="020F0502020204030204" pitchFamily="34" charset="0"/>
                <a:cs typeface="Times New Roman" panose="02020603050405020304" pitchFamily="18" charset="0"/>
              </a:rPr>
              <a:t>A short architecture diagram.</a:t>
            </a:r>
          </a:p>
          <a:p>
            <a:pPr marL="171450" indent="-171450">
              <a:lnSpc>
                <a:spcPts val="1400"/>
              </a:lnSpc>
              <a:buFont typeface="Arial" panose="020B0604020202020204" pitchFamily="34" charset="0"/>
              <a:buChar char="•"/>
            </a:pPr>
            <a:r>
              <a:rPr lang="en-US" sz="1000" dirty="0">
                <a:latin typeface="+mj-lt"/>
                <a:ea typeface="Calibri" panose="020F0502020204030204" pitchFamily="34" charset="0"/>
                <a:cs typeface="Times New Roman" panose="02020603050405020304" pitchFamily="18" charset="0"/>
              </a:rPr>
              <a:t>A brief write-up (max 1 page) explaining design choices and scalability considerations.</a:t>
            </a:r>
          </a:p>
          <a:p>
            <a:pPr marL="171450" indent="-171450">
              <a:lnSpc>
                <a:spcPts val="1400"/>
              </a:lnSpc>
              <a:buFont typeface="Arial" panose="020B0604020202020204" pitchFamily="34" charset="0"/>
              <a:buChar char="•"/>
            </a:pPr>
            <a:endParaRPr lang="en-US" sz="1000" dirty="0">
              <a:latin typeface="+mj-lt"/>
              <a:ea typeface="Calibri" panose="020F0502020204030204" pitchFamily="34" charset="0"/>
              <a:cs typeface="Times New Roman" panose="02020603050405020304" pitchFamily="18" charset="0"/>
            </a:endParaRPr>
          </a:p>
          <a:p>
            <a:pPr>
              <a:lnSpc>
                <a:spcPts val="1400"/>
              </a:lnSpc>
            </a:pPr>
            <a:r>
              <a:rPr lang="en-US" sz="1000" i="1" dirty="0">
                <a:latin typeface="+mj-lt"/>
                <a:ea typeface="Calibri" panose="020F0502020204030204" pitchFamily="34" charset="0"/>
                <a:cs typeface="Times New Roman" panose="02020603050405020304" pitchFamily="18" charset="0"/>
              </a:rPr>
              <a:t>We suggest you spend approx. 4-6 hours preparing this case.</a:t>
            </a:r>
          </a:p>
        </p:txBody>
      </p:sp>
      <p:sp>
        <p:nvSpPr>
          <p:cNvPr id="8" name="Rectangle 7">
            <a:extLst>
              <a:ext uri="{FF2B5EF4-FFF2-40B4-BE49-F238E27FC236}">
                <a16:creationId xmlns:a16="http://schemas.microsoft.com/office/drawing/2014/main" id="{701E2D76-1141-5BA6-75A4-6727D13F5D44}"/>
              </a:ext>
            </a:extLst>
          </p:cNvPr>
          <p:cNvSpPr/>
          <p:nvPr/>
        </p:nvSpPr>
        <p:spPr>
          <a:xfrm>
            <a:off x="7699879" y="0"/>
            <a:ext cx="449212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272E46F-ABDB-7A50-22B8-9CADC698B024}"/>
              </a:ext>
            </a:extLst>
          </p:cNvPr>
          <p:cNvSpPr txBox="1"/>
          <p:nvPr/>
        </p:nvSpPr>
        <p:spPr>
          <a:xfrm>
            <a:off x="7873693" y="1394523"/>
            <a:ext cx="3975407" cy="3730508"/>
          </a:xfrm>
          <a:prstGeom prst="rect">
            <a:avLst/>
          </a:prstGeom>
          <a:noFill/>
        </p:spPr>
        <p:txBody>
          <a:bodyPr wrap="square" lIns="91440" tIns="45720" rIns="91440" bIns="45720" anchor="t">
            <a:spAutoFit/>
          </a:bodyPr>
          <a:lstStyle/>
          <a:p>
            <a:pPr>
              <a:lnSpc>
                <a:spcPct val="150000"/>
              </a:lnSpc>
              <a:spcAft>
                <a:spcPts val="800"/>
              </a:spcAft>
            </a:pPr>
            <a:r>
              <a:rPr lang="nl-NL" b="1" dirty="0">
                <a:solidFill>
                  <a:srgbClr val="FEFDFA"/>
                </a:solidFill>
                <a:effectLst/>
                <a:latin typeface="+mj-lt"/>
                <a:ea typeface="Calibri" panose="020F0502020204030204" pitchFamily="34" charset="0"/>
                <a:cs typeface="Times New Roman" panose="02020603050405020304" pitchFamily="18" charset="0"/>
              </a:rPr>
              <a:t>Discussion questions:</a:t>
            </a:r>
            <a:endParaRPr lang="en-US" b="1" dirty="0">
              <a:solidFill>
                <a:srgbClr val="FEFDFA"/>
              </a:solidFill>
              <a:effectLst/>
              <a:latin typeface="+mj-lt"/>
              <a:ea typeface="Calibri" panose="020F0502020204030204" pitchFamily="34" charset="0"/>
              <a:cs typeface="Times New Roman" panose="02020603050405020304" pitchFamily="18" charset="0"/>
            </a:endParaRPr>
          </a:p>
          <a:p>
            <a:pPr lvl="0">
              <a:lnSpc>
                <a:spcPct val="150000"/>
              </a:lnSpc>
            </a:pPr>
            <a:r>
              <a:rPr lang="en-US" sz="1050" i="1" dirty="0">
                <a:latin typeface="+mj-lt"/>
                <a:ea typeface="Calibri" panose="020F0502020204030204" pitchFamily="34" charset="0"/>
                <a:cs typeface="Times New Roman" panose="02020603050405020304" pitchFamily="18" charset="0"/>
              </a:rPr>
              <a:t>Solutions are not needed in your notebook; we will cover these during the interview.</a:t>
            </a:r>
            <a:endParaRPr lang="en-US" sz="1050" i="1" dirty="0">
              <a:effectLst/>
              <a:latin typeface="+mj-lt"/>
              <a:ea typeface="Calibri" panose="020F0502020204030204" pitchFamily="34" charset="0"/>
              <a:cs typeface="Times New Roman" panose="02020603050405020304" pitchFamily="18" charset="0"/>
            </a:endParaRPr>
          </a:p>
          <a:p>
            <a:pPr lvl="0">
              <a:lnSpc>
                <a:spcPct val="150000"/>
              </a:lnSpc>
            </a:pPr>
            <a:endParaRPr lang="en-US" sz="1050" dirty="0">
              <a:effectLst/>
              <a:latin typeface="+mj-lt"/>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pPr>
            <a:r>
              <a:rPr lang="en-US" sz="1050" dirty="0">
                <a:effectLst/>
                <a:latin typeface="+mj-lt"/>
                <a:ea typeface="Calibri" panose="020F0502020204030204" pitchFamily="34" charset="0"/>
                <a:cs typeface="Times New Roman" panose="02020603050405020304" pitchFamily="18" charset="0"/>
              </a:rPr>
              <a:t>How would you scale this solution for multiple clients?</a:t>
            </a:r>
          </a:p>
          <a:p>
            <a:pPr marL="342900" lvl="0" indent="-342900">
              <a:lnSpc>
                <a:spcPct val="150000"/>
              </a:lnSpc>
              <a:buFont typeface="+mj-lt"/>
              <a:buAutoNum type="arabicPeriod"/>
            </a:pPr>
            <a:r>
              <a:rPr lang="en-US" sz="1050" dirty="0">
                <a:effectLst/>
                <a:latin typeface="+mj-lt"/>
                <a:ea typeface="Calibri" panose="020F0502020204030204" pitchFamily="34" charset="0"/>
                <a:cs typeface="Times New Roman" panose="02020603050405020304" pitchFamily="18" charset="0"/>
              </a:rPr>
              <a:t>Suggest monitoring strategies for data quality, pipeline health, and model performance.</a:t>
            </a:r>
          </a:p>
          <a:p>
            <a:pPr marL="342900" lvl="0" indent="-342900">
              <a:lnSpc>
                <a:spcPct val="150000"/>
              </a:lnSpc>
              <a:buFont typeface="+mj-lt"/>
              <a:buAutoNum type="arabicPeriod"/>
            </a:pPr>
            <a:r>
              <a:rPr lang="en-US" sz="1050" dirty="0">
                <a:effectLst/>
                <a:latin typeface="+mj-lt"/>
                <a:ea typeface="Calibri" panose="020F0502020204030204" pitchFamily="34" charset="0"/>
                <a:cs typeface="Times New Roman" panose="02020603050405020304" pitchFamily="18" charset="0"/>
              </a:rPr>
              <a:t>What techniques would you use to embed domain expertise into AI outputs?</a:t>
            </a:r>
          </a:p>
          <a:p>
            <a:pPr marL="342900" lvl="0" indent="-342900">
              <a:lnSpc>
                <a:spcPct val="150000"/>
              </a:lnSpc>
              <a:buFont typeface="+mj-lt"/>
              <a:buAutoNum type="arabicPeriod"/>
            </a:pPr>
            <a:r>
              <a:rPr lang="en-US" sz="1050" dirty="0">
                <a:effectLst/>
                <a:latin typeface="+mj-lt"/>
                <a:ea typeface="Calibri" panose="020F0502020204030204" pitchFamily="34" charset="0"/>
                <a:cs typeface="Times New Roman" panose="02020603050405020304" pitchFamily="18" charset="0"/>
              </a:rPr>
              <a:t>What tools and practices would you use for monitoring and retraining?</a:t>
            </a:r>
          </a:p>
          <a:p>
            <a:pPr marL="342900" lvl="0" indent="-342900">
              <a:lnSpc>
                <a:spcPct val="150000"/>
              </a:lnSpc>
              <a:buFont typeface="+mj-lt"/>
              <a:buAutoNum type="arabicPeriod"/>
            </a:pPr>
            <a:r>
              <a:rPr lang="en-US" sz="1050" dirty="0">
                <a:effectLst/>
                <a:latin typeface="+mj-lt"/>
                <a:ea typeface="Calibri" panose="020F0502020204030204" pitchFamily="34" charset="0"/>
                <a:cs typeface="Times New Roman" panose="02020603050405020304" pitchFamily="18" charset="0"/>
              </a:rPr>
              <a:t>What architecture choices would you make for exposing diverse data sources for analytics and reporting use cases?</a:t>
            </a:r>
          </a:p>
        </p:txBody>
      </p:sp>
    </p:spTree>
    <p:extLst>
      <p:ext uri="{BB962C8B-B14F-4D97-AF65-F5344CB8AC3E}">
        <p14:creationId xmlns:p14="http://schemas.microsoft.com/office/powerpoint/2010/main" val="3289281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9235922"/>
      </p:ext>
    </p:extLst>
  </p:cSld>
  <p:clrMapOvr>
    <a:masterClrMapping/>
  </p:clrMapOvr>
</p:sld>
</file>

<file path=ppt/theme/theme1.xml><?xml version="1.0" encoding="utf-8"?>
<a:theme xmlns:a="http://schemas.openxmlformats.org/drawingml/2006/main" name="Office Theme">
  <a:themeElements>
    <a:clrScheme name="Effectory">
      <a:dk1>
        <a:srgbClr val="192743"/>
      </a:dk1>
      <a:lt1>
        <a:srgbClr val="FFFFFF"/>
      </a:lt1>
      <a:dk2>
        <a:srgbClr val="30B3AF"/>
      </a:dk2>
      <a:lt2>
        <a:srgbClr val="FFCF2E"/>
      </a:lt2>
      <a:accent1>
        <a:srgbClr val="EDEDED"/>
      </a:accent1>
      <a:accent2>
        <a:srgbClr val="B3DCD8"/>
      </a:accent2>
      <a:accent3>
        <a:srgbClr val="30B3AF"/>
      </a:accent3>
      <a:accent4>
        <a:srgbClr val="065D66"/>
      </a:accent4>
      <a:accent5>
        <a:srgbClr val="192743"/>
      </a:accent5>
      <a:accent6>
        <a:srgbClr val="FFFFFF"/>
      </a:accent6>
      <a:hlink>
        <a:srgbClr val="192743"/>
      </a:hlink>
      <a:folHlink>
        <a:srgbClr val="192743"/>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ffectory_master (16x9) 2018_4.potx" id="{4859FC2D-993E-4832-B9B8-E54BB18CB578}" vid="{55F00C75-B073-43E4-BA68-5BEC15BC8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E20A90A24610848AEEAE2F8CD47FA91" ma:contentTypeVersion="19" ma:contentTypeDescription="Een nieuw document maken." ma:contentTypeScope="" ma:versionID="147309765e6e15e928bcf2c9a9add6d5">
  <xsd:schema xmlns:xsd="http://www.w3.org/2001/XMLSchema" xmlns:xs="http://www.w3.org/2001/XMLSchema" xmlns:p="http://schemas.microsoft.com/office/2006/metadata/properties" xmlns:ns1="http://schemas.microsoft.com/sharepoint/v3" xmlns:ns2="4288ad3f-a146-471b-a9ac-b245f9eebc3a" xmlns:ns3="01edf75c-d75d-4b03-809c-e03782485d8f" targetNamespace="http://schemas.microsoft.com/office/2006/metadata/properties" ma:root="true" ma:fieldsID="6e8fbd19cdddabbef419068e04ae5138" ns1:_="" ns2:_="" ns3:_="">
    <xsd:import namespace="http://schemas.microsoft.com/sharepoint/v3"/>
    <xsd:import namespace="4288ad3f-a146-471b-a9ac-b245f9eebc3a"/>
    <xsd:import namespace="01edf75c-d75d-4b03-809c-e03782485d8f"/>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1:_ip_UnifiedCompliancePolicyProperties" minOccurs="0"/>
                <xsd:element ref="ns1:_ip_UnifiedCompliancePolicyUIAction" minOccurs="0"/>
                <xsd:element ref="ns3:MediaLengthInSeconds" minOccurs="0"/>
                <xsd:element ref="ns3:lcf76f155ced4ddcb4097134ff3c332f" minOccurs="0"/>
                <xsd:element ref="ns2:TaxCatchAll"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Eigenschappen van het geïntegreerd beleid voor naleving" ma:hidden="true" ma:internalName="_ip_UnifiedCompliancePolicyProperties">
      <xsd:simpleType>
        <xsd:restriction base="dms:Note"/>
      </xsd:simpleType>
    </xsd:element>
    <xsd:element name="_ip_UnifiedCompliancePolicyUIAction" ma:index="20" nillable="true" ma:displayName="Actie van de gebruikersinterface van het geïntegreerd beleid voor naleving"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88ad3f-a146-471b-a9ac-b245f9eebc3a"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element name="TaxCatchAll" ma:index="24" nillable="true" ma:displayName="Taxonomy Catch All Column" ma:hidden="true" ma:list="{5f4ee5ff-16f6-453d-891a-140407ad03b8}" ma:internalName="TaxCatchAll" ma:showField="CatchAllData" ma:web="4288ad3f-a146-471b-a9ac-b245f9eebc3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1edf75c-d75d-4b03-809c-e03782485d8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Afbeeldingtags" ma:readOnly="false" ma:fieldId="{5cf76f15-5ced-4ddc-b409-7134ff3c332f}" ma:taxonomyMulti="true" ma:sspId="acf43a73-d76f-4744-802e-d553ba3614a8" ma:termSetId="09814cd3-568e-fe90-9814-8d621ff8fb84" ma:anchorId="fba54fb3-c3e1-fe81-a776-ca4b69148c4d" ma:open="true" ma:isKeyword="false">
      <xsd:complexType>
        <xsd:sequence>
          <xsd:element ref="pc:Terms" minOccurs="0" maxOccurs="1"/>
        </xsd:sequence>
      </xsd:complexType>
    </xsd:element>
    <xsd:element name="MediaServiceLocation" ma:index="25" nillable="true" ma:displayName="Location" ma:internalName="MediaServiceLocation"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01edf75c-d75d-4b03-809c-e03782485d8f">
      <Terms xmlns="http://schemas.microsoft.com/office/infopath/2007/PartnerControls"/>
    </lcf76f155ced4ddcb4097134ff3c332f>
    <TaxCatchAll xmlns="4288ad3f-a146-471b-a9ac-b245f9eebc3a" xsi:nil="true"/>
  </documentManagement>
</p:properties>
</file>

<file path=customXml/itemProps1.xml><?xml version="1.0" encoding="utf-8"?>
<ds:datastoreItem xmlns:ds="http://schemas.openxmlformats.org/officeDocument/2006/customXml" ds:itemID="{E024892C-DE71-4591-BA90-D81858F9526C}">
  <ds:schemaRefs>
    <ds:schemaRef ds:uri="http://schemas.microsoft.com/sharepoint/v3/contenttype/forms"/>
  </ds:schemaRefs>
</ds:datastoreItem>
</file>

<file path=customXml/itemProps2.xml><?xml version="1.0" encoding="utf-8"?>
<ds:datastoreItem xmlns:ds="http://schemas.openxmlformats.org/officeDocument/2006/customXml" ds:itemID="{D0EA6AF3-4774-4D63-9A92-60765AD552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288ad3f-a146-471b-a9ac-b245f9eebc3a"/>
    <ds:schemaRef ds:uri="01edf75c-d75d-4b03-809c-e03782485d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9D510B8-9C8F-4587-97D1-0D231C65BF0A}">
  <ds:schemaRefs>
    <ds:schemaRef ds:uri="3f2d3da5-b56a-475f-9352-0ef62559252e"/>
    <ds:schemaRef ds:uri="a5518822-07d6-4741-b9a6-88e6aef166b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 ds:uri="01edf75c-d75d-4b03-809c-e03782485d8f"/>
    <ds:schemaRef ds:uri="4288ad3f-a146-471b-a9ac-b245f9eebc3a"/>
  </ds:schemaRefs>
</ds:datastoreItem>
</file>

<file path=docMetadata/LabelInfo.xml><?xml version="1.0" encoding="utf-8"?>
<clbl:labelList xmlns:clbl="http://schemas.microsoft.com/office/2020/mipLabelMetadata">
  <clbl:label id="{b460a816-67c7-40fa-b867-381aebecaa74}" enabled="1" method="Privileged" siteId="{e9792fd7-4044-47e7-a40d-3fba46f1cd09}" removed="0"/>
</clbl:labelList>
</file>

<file path=docProps/app.xml><?xml version="1.0" encoding="utf-8"?>
<Properties xmlns="http://schemas.openxmlformats.org/officeDocument/2006/extended-properties" xmlns:vt="http://schemas.openxmlformats.org/officeDocument/2006/docPropsVTypes">
  <Template>blank</Template>
  <TotalTime>0</TotalTime>
  <Words>625</Words>
  <Application>Microsoft Office PowerPoint</Application>
  <PresentationFormat>Widescreen</PresentationFormat>
  <Paragraphs>66</Paragraphs>
  <Slides>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Century Gothic</vt:lpstr>
      <vt:lpstr>Open Sans Semibold</vt:lpstr>
      <vt:lpstr>Source Sans Pro</vt:lpstr>
      <vt:lpstr>Titillium</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Merel van der Lei  Effectory</dc:creator>
  <cp:lastModifiedBy>Matt Crompton  Effectory</cp:lastModifiedBy>
  <cp:revision>10</cp:revision>
  <cp:lastPrinted>2020-05-12T07:04:08Z</cp:lastPrinted>
  <dcterms:created xsi:type="dcterms:W3CDTF">2018-11-16T13:09:46Z</dcterms:created>
  <dcterms:modified xsi:type="dcterms:W3CDTF">2025-11-24T09:13:20Z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0x0101001E20A90A24610848AEEAE2F8CD47FA91</vt:lpwstr>
  </property>
  <property fmtid="{D5CDD505-2E9C-101B-9397-08002B2CF9AE}" pid="3" name="Order">
    <vt:r8>100</vt:r8>
  </property>
  <property fmtid="{D5CDD505-2E9C-101B-9397-08002B2CF9AE}" pid="4" name="MSIP_Label_b460a816-67c7-40fa-b867-381aebecaa74_Enabled">
    <vt:lpwstr>true</vt:lpwstr>
  </property>
  <property fmtid="{D5CDD505-2E9C-101B-9397-08002B2CF9AE}" pid="5" name="MSIP_Label_b460a816-67c7-40fa-b867-381aebecaa74_SetDate">
    <vt:lpwstr>2021-10-29T16:13:23Z</vt:lpwstr>
  </property>
  <property fmtid="{D5CDD505-2E9C-101B-9397-08002B2CF9AE}" pid="6" name="MSIP_Label_b460a816-67c7-40fa-b867-381aebecaa74_Method">
    <vt:lpwstr>Privileged</vt:lpwstr>
  </property>
  <property fmtid="{D5CDD505-2E9C-101B-9397-08002B2CF9AE}" pid="7" name="MSIP_Label_b460a816-67c7-40fa-b867-381aebecaa74_Name">
    <vt:lpwstr>Effectory</vt:lpwstr>
  </property>
  <property fmtid="{D5CDD505-2E9C-101B-9397-08002B2CF9AE}" pid="8" name="MSIP_Label_b460a816-67c7-40fa-b867-381aebecaa74_SiteId">
    <vt:lpwstr>e9792fd7-4044-47e7-a40d-3fba46f1cd09</vt:lpwstr>
  </property>
  <property fmtid="{D5CDD505-2E9C-101B-9397-08002B2CF9AE}" pid="9" name="MSIP_Label_b460a816-67c7-40fa-b867-381aebecaa74_ActionId">
    <vt:lpwstr>373f8d22-f731-4a30-bd18-14eb6cf88d8f</vt:lpwstr>
  </property>
  <property fmtid="{D5CDD505-2E9C-101B-9397-08002B2CF9AE}" pid="10" name="MSIP_Label_b460a816-67c7-40fa-b867-381aebecaa74_ContentBits">
    <vt:lpwstr>0</vt:lpwstr>
  </property>
  <property fmtid="{D5CDD505-2E9C-101B-9397-08002B2CF9AE}" pid="11" name="MediaServiceImageTags">
    <vt:lpwstr/>
  </property>
</Properties>
</file>